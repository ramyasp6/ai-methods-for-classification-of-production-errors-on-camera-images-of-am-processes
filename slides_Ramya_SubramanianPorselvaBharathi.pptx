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  <p:sldMasterId id="2147483668" r:id="rId2"/>
    <p:sldMasterId id="2147483685" r:id="rId3"/>
  </p:sldMasterIdLst>
  <p:notesMasterIdLst>
    <p:notesMasterId r:id="rId27"/>
  </p:notesMasterIdLst>
  <p:handoutMasterIdLst>
    <p:handoutMasterId r:id="rId28"/>
  </p:handoutMasterIdLst>
  <p:sldIdLst>
    <p:sldId id="288" r:id="rId4"/>
    <p:sldId id="301" r:id="rId5"/>
    <p:sldId id="290" r:id="rId6"/>
    <p:sldId id="304" r:id="rId7"/>
    <p:sldId id="305" r:id="rId8"/>
    <p:sldId id="303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279" r:id="rId26"/>
  </p:sldIdLst>
  <p:sldSz cx="12192000" cy="6858000"/>
  <p:notesSz cx="6858000" cy="9144000"/>
  <p:embeddedFontLs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Open Sans ExtraBold" panose="020B0606030504020204" pitchFamily="34" charset="0"/>
      <p:bold r:id="rId33"/>
      <p:italic r:id="rId34"/>
      <p:boldItalic r:id="rId35"/>
    </p:embeddedFont>
    <p:embeddedFont>
      <p:font typeface="Open Sans Light" panose="020B0306030504020204" pitchFamily="34" charset="0"/>
      <p:regular r:id="rId36"/>
      <p:italic r:id="rId37"/>
    </p:embeddedFont>
    <p:embeddedFont>
      <p:font typeface="Open Sans SemiBold" panose="020B0606030504020204" pitchFamily="34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rhard Lerch" initials="GL" lastIdx="35" clrIdx="0">
    <p:extLst>
      <p:ext uri="{19B8F6BF-5375-455C-9EA6-DF929625EA0E}">
        <p15:presenceInfo xmlns:p15="http://schemas.microsoft.com/office/powerpoint/2012/main" userId="Gerhard Lerch" providerId="None"/>
      </p:ext>
    </p:extLst>
  </p:cmAuthor>
  <p:cmAuthor id="2" name="Nikolas Klauser" initials="NK" lastIdx="5" clrIdx="1">
    <p:extLst>
      <p:ext uri="{19B8F6BF-5375-455C-9EA6-DF929625EA0E}">
        <p15:presenceInfo xmlns:p15="http://schemas.microsoft.com/office/powerpoint/2012/main" userId="6f5b20237fbf398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1926"/>
    <a:srgbClr val="C61A27"/>
    <a:srgbClr val="E0AE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8" autoAdjust="0"/>
    <p:restoredTop sz="95878"/>
  </p:normalViewPr>
  <p:slideViewPr>
    <p:cSldViewPr snapToGrid="0">
      <p:cViewPr varScale="1">
        <p:scale>
          <a:sx n="108" d="100"/>
          <a:sy n="108" d="100"/>
        </p:scale>
        <p:origin x="1096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237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11.fntdata"/><Relationship Id="rId21" Type="http://schemas.openxmlformats.org/officeDocument/2006/relationships/slide" Target="slides/slide18.xml"/><Relationship Id="rId34" Type="http://schemas.openxmlformats.org/officeDocument/2006/relationships/font" Target="fonts/font6.fntdata"/><Relationship Id="rId42" Type="http://schemas.openxmlformats.org/officeDocument/2006/relationships/commentAuthors" Target="commentAuthor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handoutMaster" Target="handoutMasters/handoutMaster1.xml"/><Relationship Id="rId36" Type="http://schemas.openxmlformats.org/officeDocument/2006/relationships/font" Target="fonts/font8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3.fntdata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font" Target="fonts/font1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4AA6D-DD87-4745-A551-2B32387146DD}" type="datetime4">
              <a:rPr lang="de-DE" smtClean="0">
                <a:latin typeface="Open Sans" panose="020B0606030504020204" pitchFamily="34" charset="0"/>
              </a:rPr>
              <a:t>8. Februar 2026</a:t>
            </a:fld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Open Sans" panose="020B0606030504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B1EB1-4680-4132-B876-108EF4BDB3D1}" type="slidenum">
              <a:rPr lang="en-US" smtClean="0">
                <a:latin typeface="Open Sans" panose="020B0606030504020204" pitchFamily="34" charset="0"/>
              </a:rPr>
              <a:t>‹#›</a:t>
            </a:fld>
            <a:endParaRPr lang="en-US" dirty="0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945377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3DEA87-7826-2041-8692-FAD7D18CC24F}" type="datetime4">
              <a:rPr lang="de-DE" smtClean="0"/>
              <a:t>8. Februar 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74A5CD-718D-E149-8B3E-0E74E0E018BA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919607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53DEA87-7826-2041-8692-FAD7D18CC24F}" type="datetime4">
              <a:rPr lang="de-DE" smtClean="0"/>
              <a:t>8. Februar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74A5CD-718D-E149-8B3E-0E74E0E018BA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7277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links &amp;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C7C7763-8DF4-6840-95FF-985F46830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4" y="365129"/>
            <a:ext cx="10515600" cy="108207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CD30468-F47E-9C4E-8CF8-B3D7CCE3E8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7109" y="1468390"/>
            <a:ext cx="4419600" cy="294592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40AB097-05CE-534C-8D30-B1FE13B73F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533" y="4569876"/>
            <a:ext cx="4419600" cy="552450"/>
          </a:xfrm>
          <a:prstGeom prst="rect">
            <a:avLst/>
          </a:prstGeom>
        </p:spPr>
        <p:txBody>
          <a:bodyPr/>
          <a:lstStyle>
            <a:lvl1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53AE7DE7-D838-7945-87DF-7230170374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3395" y="1468392"/>
            <a:ext cx="5725583" cy="2945919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Wingdings" pitchFamily="2" charset="2"/>
              <a:buChar char="§"/>
              <a:defRPr sz="1800">
                <a:latin typeface="+mn-lt"/>
              </a:defRPr>
            </a:lvl1pPr>
            <a:lvl2pPr marL="6286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Wingdings" pitchFamily="2" charset="2"/>
              <a:buChar char="§"/>
              <a:defRPr sz="1600">
                <a:latin typeface="+mn-lt"/>
              </a:defRPr>
            </a:lvl2pPr>
            <a:lvl3pPr marL="971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Wingdings" pitchFamily="2" charset="2"/>
              <a:buChar char="§"/>
              <a:defRPr sz="1400">
                <a:latin typeface="+mn-lt"/>
              </a:defRPr>
            </a:lvl3pPr>
            <a:lvl4pPr marL="1028700" indent="0">
              <a:lnSpc>
                <a:spcPct val="100000"/>
              </a:lnSpc>
              <a:buClr>
                <a:schemeClr val="accent1"/>
              </a:buClr>
              <a:buNone/>
              <a:defRPr>
                <a:latin typeface="+mn-lt"/>
              </a:defRPr>
            </a:lvl4pPr>
            <a:lvl5pPr>
              <a:lnSpc>
                <a:spcPct val="100000"/>
              </a:lnSpc>
              <a:buClr>
                <a:schemeClr val="accent1"/>
              </a:buClr>
              <a:defRPr>
                <a:latin typeface="+mn-lt"/>
              </a:defRPr>
            </a:lvl5pPr>
          </a:lstStyle>
          <a:p>
            <a:pPr lvl="0"/>
            <a:r>
              <a:rPr lang="de-DE" dirty="0"/>
              <a:t>Bullet Point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Erste Ebene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E321120-23E1-2A4B-61A0-6A3BA5C7426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928744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55A12D5E-730F-5D40-8D13-E7629A52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4" y="365129"/>
            <a:ext cx="10515600" cy="985208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7D725A4F-E261-4A03-A996-197E2AC041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444" y="1461600"/>
            <a:ext cx="10515600" cy="60801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 sz="1800" b="0" i="0"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ipsum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sit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consectetuer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99BE3E5E-5580-476D-A89E-C096333C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533" y="2155825"/>
            <a:ext cx="10515511" cy="3427942"/>
          </a:xfrm>
          <a:prstGeom prst="rect">
            <a:avLst/>
          </a:prstGeom>
        </p:spPr>
        <p:txBody>
          <a:bodyPr/>
          <a:lstStyle>
            <a:lvl1pPr marL="40005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tabLst/>
              <a:defRPr sz="18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14350" marR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tabLst/>
              <a:defRPr sz="1600" b="0" i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50" marR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50" marR="0" indent="-171450" algn="l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 dirty="0"/>
              <a:t>Bullet Point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Erste Ebene</a:t>
            </a:r>
          </a:p>
          <a:p>
            <a:pPr lvl="0"/>
            <a:endParaRPr lang="de-DE" dirty="0"/>
          </a:p>
          <a:p>
            <a:pPr lvl="2"/>
            <a:endParaRPr lang="de-DE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372DB02-ADEC-C70B-C47C-4755840F8C4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5957E7-8A81-8A47-BF7D-15924B155E07}" type="datetimeFigureOut">
              <a:rPr lang="en-DE" smtClean="0"/>
              <a:t>08.02.26</a:t>
            </a:fld>
            <a:endParaRPr lang="en-DE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1B21967-D275-2F67-F2EC-9E77C3F6D6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84DAD90-164C-EB0A-23CD-F88875EF24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AB27CE4-59B8-1A41-A967-268CCA37D4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33725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D977BE81-8F9C-044E-A0A2-A10F8E26D6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444" y="365129"/>
            <a:ext cx="10515600" cy="432894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8BCE6B5-41F4-8949-8F1E-1EA2FDCC93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444" y="839189"/>
            <a:ext cx="10515600" cy="608012"/>
          </a:xfrm>
          <a:prstGeom prst="rect">
            <a:avLst/>
          </a:prstGeom>
        </p:spPr>
        <p:txBody>
          <a:bodyPr/>
          <a:lstStyle>
            <a:lvl1pPr>
              <a:defRPr sz="2000" b="1" i="0">
                <a:latin typeface="+mn-lt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de-DE" sz="2400" b="1" i="0" dirty="0">
                <a:solidFill>
                  <a:schemeClr val="tx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Unterüberschrift</a:t>
            </a:r>
            <a:endParaRPr lang="de-DE" dirty="0"/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7AED834-9F86-6F41-A6E2-417481696E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444" y="1461600"/>
            <a:ext cx="10515600" cy="60801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 sz="1800" b="0" i="0"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ipsum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sit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consectetuer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913394F-6ED5-445A-A496-2A071ACFDF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46711" y="2155824"/>
            <a:ext cx="4995333" cy="343083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Click icon to add picture</a:t>
            </a:r>
            <a:endParaRPr lang="de-DE" dirty="0"/>
          </a:p>
        </p:txBody>
      </p:sp>
      <p:sp>
        <p:nvSpPr>
          <p:cNvPr id="9" name="Textplatzhalter 17">
            <a:extLst>
              <a:ext uri="{FF2B5EF4-FFF2-40B4-BE49-F238E27FC236}">
                <a16:creationId xmlns:a16="http://schemas.microsoft.com/office/drawing/2014/main" id="{036AD2F9-D38E-4A69-8535-65E6817CCC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533" y="2155826"/>
            <a:ext cx="5164667" cy="3430837"/>
          </a:xfrm>
          <a:prstGeom prst="rect">
            <a:avLst/>
          </a:prstGeom>
        </p:spPr>
        <p:txBody>
          <a:bodyPr/>
          <a:lstStyle>
            <a:lvl1pPr marL="284400" marR="0" indent="-2844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tabLst/>
              <a:defRPr sz="18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30000" marR="0" indent="-284400" algn="l" defTabSz="6858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tabLst/>
              <a:defRPr sz="1600" b="0" i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72000" marR="0" indent="-284400" algn="l" defTabSz="6858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50" marR="0" indent="-171450" algn="l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 dirty="0"/>
              <a:t>Bullet Point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Erste Ebene</a:t>
            </a:r>
          </a:p>
          <a:p>
            <a:pPr lvl="0"/>
            <a:endParaRPr lang="de-DE" dirty="0"/>
          </a:p>
          <a:p>
            <a:pPr lvl="2"/>
            <a:endParaRPr lang="de-D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80A73E-7D42-0030-B4B0-29723C51B92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F5957E7-8A81-8A47-BF7D-15924B155E07}" type="datetimeFigureOut">
              <a:rPr lang="en-DE" smtClean="0"/>
              <a:t>08.02.26</a:t>
            </a:fld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FD40DB5-A16C-DAF8-375C-214C1E8211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836255-D7FF-38AE-D8D2-B6A65072FE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AB27CE4-59B8-1A41-A967-268CCA37D4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53500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28355BED-4E30-D342-8C2B-2461AAC9B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4" y="365129"/>
            <a:ext cx="10515600" cy="108207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5" name="Textplatzhalter 10">
            <a:extLst>
              <a:ext uri="{FF2B5EF4-FFF2-40B4-BE49-F238E27FC236}">
                <a16:creationId xmlns:a16="http://schemas.microsoft.com/office/drawing/2014/main" id="{79B2F6D5-B869-A949-B7E2-386303992E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45" y="1447203"/>
            <a:ext cx="8476913" cy="413946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9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858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0287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de-DE" dirty="0"/>
              <a:t>Platz für viel Text</a:t>
            </a:r>
          </a:p>
          <a:p>
            <a:pPr lvl="0"/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…</a:t>
            </a:r>
          </a:p>
          <a:p>
            <a:pPr lvl="0"/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lvl="0"/>
            <a:endParaRPr lang="de-D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003E3E4-7034-B4DB-3420-384E81BF37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F5957E7-8A81-8A47-BF7D-15924B155E07}" type="datetimeFigureOut">
              <a:rPr lang="en-DE" smtClean="0"/>
              <a:t>08.02.26</a:t>
            </a:fld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B37E5B-A8AE-4FB5-0F66-5AC0A9208D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B371B0-F106-C408-60A8-627C1E8C42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AB27CE4-59B8-1A41-A967-268CCA37D4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9546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28355BED-4E30-D342-8C2B-2461AAC9B8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444" y="365130"/>
            <a:ext cx="10515600" cy="496517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/>
              <a:t>Titel durch Klicken bearbeiten</a:t>
            </a:r>
            <a:endParaRPr lang="de-DE" dirty="0"/>
          </a:p>
        </p:txBody>
      </p:sp>
      <p:sp>
        <p:nvSpPr>
          <p:cNvPr id="3" name="Diagrammplatzhalter 2">
            <a:extLst>
              <a:ext uri="{FF2B5EF4-FFF2-40B4-BE49-F238E27FC236}">
                <a16:creationId xmlns:a16="http://schemas.microsoft.com/office/drawing/2014/main" id="{95BD0F2B-AE2E-5A4C-B9B3-D547A1A5ABD1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26445" y="1921261"/>
            <a:ext cx="10515511" cy="366540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 dirty="0">
                <a:latin typeface="+mn-lt"/>
              </a:rPr>
              <a:t>Durch Klicken ein Diagramm </a:t>
            </a:r>
            <a:r>
              <a:rPr lang="de-DE" dirty="0"/>
              <a:t>einfügen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DF14CB7-5BCB-814E-B089-18CBC42448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444" y="839189"/>
            <a:ext cx="10515600" cy="608012"/>
          </a:xfrm>
          <a:prstGeom prst="rect">
            <a:avLst/>
          </a:prstGeom>
        </p:spPr>
        <p:txBody>
          <a:bodyPr/>
          <a:lstStyle>
            <a:lvl1pPr>
              <a:defRPr sz="20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r>
              <a:rPr lang="de-DE" dirty="0"/>
              <a:t>Unterüberschrift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72446AC-EAFD-DEED-FCFE-22420234E8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5957E7-8A81-8A47-BF7D-15924B155E07}" type="datetimeFigureOut">
              <a:rPr lang="en-DE" smtClean="0"/>
              <a:t>08.02.26</a:t>
            </a:fld>
            <a:endParaRPr lang="en-D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46A2BF3-FF63-50C1-65D3-4AB124A524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380519-D369-4239-E22B-814C3E755E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AB27CE4-59B8-1A41-A967-268CCA37D4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9226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8235AABE-82E9-7843-B482-6C922EF8F1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444" y="365130"/>
            <a:ext cx="10515600" cy="49651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8CD123B7-B19B-6E43-AB70-FDAD54834A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444" y="839189"/>
            <a:ext cx="10515600" cy="608012"/>
          </a:xfrm>
          <a:prstGeom prst="rect">
            <a:avLst/>
          </a:prstGeom>
        </p:spPr>
        <p:txBody>
          <a:bodyPr/>
          <a:lstStyle>
            <a:lvl1pPr>
              <a:defRPr sz="20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r>
              <a:rPr lang="de-DE" dirty="0"/>
              <a:t>Unterüberschrift</a:t>
            </a:r>
          </a:p>
        </p:txBody>
      </p:sp>
      <p:sp>
        <p:nvSpPr>
          <p:cNvPr id="17" name="Tabellenplatzhalter 13">
            <a:extLst>
              <a:ext uri="{FF2B5EF4-FFF2-40B4-BE49-F238E27FC236}">
                <a16:creationId xmlns:a16="http://schemas.microsoft.com/office/drawing/2014/main" id="{5A83E83A-464E-D648-9F74-0E466F86758F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6533" y="1921261"/>
            <a:ext cx="10515600" cy="366139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 dirty="0"/>
              <a:t>Durch Klicken Tabelle einfügen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7ED01-1022-8E06-5251-7ECD053045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F5957E7-8A81-8A47-BF7D-15924B155E07}" type="datetimeFigureOut">
              <a:rPr lang="en-DE" smtClean="0"/>
              <a:t>08.02.26</a:t>
            </a:fld>
            <a:endParaRPr lang="en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1C226-1B7B-CE9E-61AC-9C10CBE9D8C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159DA8D-6720-58EB-B697-44E63D78982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AB27CE4-59B8-1A41-A967-268CCA37D4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295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enplatzhalter 9">
            <a:extLst>
              <a:ext uri="{FF2B5EF4-FFF2-40B4-BE49-F238E27FC236}">
                <a16:creationId xmlns:a16="http://schemas.microsoft.com/office/drawing/2014/main" id="{F4810152-E300-0D46-9A87-D02116FA460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626444" y="1512667"/>
            <a:ext cx="10515600" cy="4069986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 dirty="0"/>
              <a:t>Durch Klicken Video hinzufügen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ADA3668F-5A0E-4BC2-A703-C940D0E282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444" y="839189"/>
            <a:ext cx="10515600" cy="608012"/>
          </a:xfrm>
          <a:prstGeom prst="rect">
            <a:avLst/>
          </a:prstGeom>
        </p:spPr>
        <p:txBody>
          <a:bodyPr/>
          <a:lstStyle>
            <a:lvl1pPr>
              <a:defRPr sz="2000" b="1" i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de-DE" dirty="0"/>
              <a:t>Unterüberschrift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15D7FFA-640E-4ED4-AA9A-AD456FC8D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444" y="365130"/>
            <a:ext cx="10515600" cy="49651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5F9EFD-ED1B-A7C0-04BA-F16DD5E1C33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5957E7-8A81-8A47-BF7D-15924B155E07}" type="datetimeFigureOut">
              <a:rPr lang="en-DE" smtClean="0"/>
              <a:t>08.02.26</a:t>
            </a:fld>
            <a:endParaRPr lang="en-D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1FDA54-FE32-FEA1-40FD-05CE2B7A2B7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F88039-0788-8598-C83C-FB299EED3C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AB27CE4-59B8-1A41-A967-268CCA37D4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1452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44D85526-277D-4BF0-A06C-982B9DC614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444" y="365130"/>
            <a:ext cx="10515600" cy="49651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FF751A8-94E8-46BE-B3AD-7AC214BE10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6534" y="1436688"/>
            <a:ext cx="7977717" cy="4151312"/>
          </a:xfrm>
          <a:prstGeom prst="rect">
            <a:avLst/>
          </a:prstGeom>
        </p:spPr>
        <p:txBody>
          <a:bodyPr anchor="t"/>
          <a:lstStyle>
            <a:lvl1pPr>
              <a:lnSpc>
                <a:spcPct val="200000"/>
              </a:lnSpc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766C81-63AA-1441-2D72-4DE4432657D0}"/>
              </a:ext>
            </a:extLst>
          </p:cNvPr>
          <p:cNvSpPr txBox="1"/>
          <p:nvPr userDrawn="1"/>
        </p:nvSpPr>
        <p:spPr>
          <a:xfrm>
            <a:off x="2743200" y="64788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87A8FD01-775B-4E8F-A18E-B8EBF07D05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40801" y="1436688"/>
            <a:ext cx="2854835" cy="4151312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200000"/>
              </a:lnSpc>
              <a:defRPr sz="1800" b="1">
                <a:solidFill>
                  <a:schemeClr val="tx2"/>
                </a:solidFill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endParaRPr lang="de-DE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4C1004-97E8-FEE8-2132-351C2348014A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973263" y="6600825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30FFDFA2-8129-5C8A-2929-F06E753C68D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5957E7-8A81-8A47-BF7D-15924B155E07}" type="datetimeFigureOut">
              <a:rPr lang="en-DE" smtClean="0"/>
              <a:t>08.02.26</a:t>
            </a:fld>
            <a:endParaRPr lang="en-DE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6314FFD8-7AD0-EEC3-08F5-C6725FE6079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869B9C7D-308B-1637-B4F7-B55D5A45C6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AB27CE4-59B8-1A41-A967-268CCA37D4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8528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ispielfolie ohn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44D85526-277D-4BF0-A06C-982B9DC614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444" y="365130"/>
            <a:ext cx="10515600" cy="49651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780D253-9353-4726-B437-6740C7E45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957E7-8A81-8A47-BF7D-15924B155E07}" type="datetimeFigureOut">
              <a:rPr lang="en-DE" smtClean="0"/>
              <a:t>08.02.26</a:t>
            </a:fld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24104CB-5E74-861E-8105-36B856FF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B62A5A-9A3E-BFB2-E841-B4101263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27CE4-59B8-1A41-A967-268CCA37D47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96872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computer, Computer, drinnen, arbeitend enthält.&#10;&#10;Automatisch generierte Beschreibung">
            <a:extLst>
              <a:ext uri="{FF2B5EF4-FFF2-40B4-BE49-F238E27FC236}">
                <a16:creationId xmlns:a16="http://schemas.microsoft.com/office/drawing/2014/main" id="{50214E10-340A-FF08-D052-7F21FFDC48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A11FC40C-0444-4844-813C-585F206F1D99}"/>
              </a:ext>
            </a:extLst>
          </p:cNvPr>
          <p:cNvSpPr/>
          <p:nvPr userDrawn="1"/>
        </p:nvSpPr>
        <p:spPr bwMode="white">
          <a:xfrm>
            <a:off x="-1" y="3429000"/>
            <a:ext cx="9622668" cy="1617044"/>
          </a:xfrm>
          <a:prstGeom prst="rect">
            <a:avLst/>
          </a:prstGeom>
          <a:solidFill>
            <a:srgbClr val="C51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87B82EB-6FD2-1345-A7B8-78E61E074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63606" y="3574742"/>
            <a:ext cx="8549728" cy="132556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de-DE" dirty="0"/>
              <a:t>Titel über</a:t>
            </a:r>
            <a:br>
              <a:rPr lang="de-DE" dirty="0"/>
            </a:br>
            <a:r>
              <a:rPr lang="de-DE" dirty="0"/>
              <a:t>zwei Zeilen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7BFFF8D-7F2A-AA49-93F0-737689C60E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764117" y="5815012"/>
            <a:ext cx="5331883" cy="104298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Name Referent*in</a:t>
            </a:r>
          </a:p>
          <a:p>
            <a:r>
              <a:rPr lang="de-DE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18. Februar 2022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0E3CB8C-1F61-DBB8-FEFD-40BDA43D88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2667" y="331904"/>
            <a:ext cx="2136848" cy="63568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9E7D0D1-E660-4026-CB14-007800DAFE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2715" y="3675701"/>
            <a:ext cx="370497" cy="40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58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gefliest, Ziegelstein, Kachel enthält.&#10;&#10;Automatisch generierte Beschreibung">
            <a:extLst>
              <a:ext uri="{FF2B5EF4-FFF2-40B4-BE49-F238E27FC236}">
                <a16:creationId xmlns:a16="http://schemas.microsoft.com/office/drawing/2014/main" id="{1D2C741D-9EEB-BC85-9DF1-C0DB06992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120875"/>
            <a:ext cx="12192000" cy="5737125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CAD864D4-AF73-5441-92BD-5D86993737F9}"/>
              </a:ext>
            </a:extLst>
          </p:cNvPr>
          <p:cNvSpPr/>
          <p:nvPr userDrawn="1"/>
        </p:nvSpPr>
        <p:spPr bwMode="black">
          <a:xfrm>
            <a:off x="0" y="3429000"/>
            <a:ext cx="1527208" cy="1617044"/>
          </a:xfrm>
          <a:prstGeom prst="rect">
            <a:avLst/>
          </a:prstGeom>
          <a:solidFill>
            <a:srgbClr val="C51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4AD0EF0F-9E70-5A44-9F39-758AC013A4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763604" y="3574742"/>
            <a:ext cx="10925587" cy="643297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bg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de-DE" dirty="0"/>
              <a:t>Titel über eine Zeile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E120028F-B108-A24C-90E9-303B4E86AD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753557" y="4329287"/>
            <a:ext cx="11005959" cy="100171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de-DE" dirty="0"/>
              <a:t>Hier steht eine Unterüberschrift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DB0C7F00-4B42-4D4A-918D-91B3F00FF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764117" y="5815012"/>
            <a:ext cx="5331883" cy="104298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Name Referent*in</a:t>
            </a:r>
          </a:p>
          <a:p>
            <a:r>
              <a:rPr lang="de-DE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18. Februar 2022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4886DA2-DFDE-FB87-4524-90530CCA6D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2715" y="3675701"/>
            <a:ext cx="370497" cy="40360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3625DCF-EE1E-6DDD-B249-BD18F1DAD25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2667" y="331904"/>
            <a:ext cx="2136848" cy="63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892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Boden, gefliest enthält.&#10;&#10;Automatisch generierte Beschreibung">
            <a:extLst>
              <a:ext uri="{FF2B5EF4-FFF2-40B4-BE49-F238E27FC236}">
                <a16:creationId xmlns:a16="http://schemas.microsoft.com/office/drawing/2014/main" id="{69CB1B92-7B63-DA4E-B8CA-9B91BD956A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58660015-3293-EA40-B3F9-1C305D5F9563}"/>
              </a:ext>
            </a:extLst>
          </p:cNvPr>
          <p:cNvSpPr/>
          <p:nvPr userDrawn="1"/>
        </p:nvSpPr>
        <p:spPr bwMode="black">
          <a:xfrm>
            <a:off x="0" y="3429000"/>
            <a:ext cx="1527208" cy="1617044"/>
          </a:xfrm>
          <a:prstGeom prst="rect">
            <a:avLst/>
          </a:prstGeom>
          <a:solidFill>
            <a:srgbClr val="C51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38218C36-0CF6-E448-B3B7-46C327FB7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764117" y="5815012"/>
            <a:ext cx="4496360" cy="1042988"/>
          </a:xfrm>
          <a:prstGeom prst="rect">
            <a:avLst/>
          </a:prstGeom>
        </p:spPr>
        <p:txBody>
          <a:bodyPr wrap="none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r>
              <a:rPr lang="de-DE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Name Referent*in</a:t>
            </a:r>
          </a:p>
          <a:p>
            <a:r>
              <a:rPr lang="de-DE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18. Februar 2022 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D76931D2-07D4-984C-8B99-8D3C84E3CB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763604" y="3574742"/>
            <a:ext cx="10925587" cy="643297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bg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de-DE" dirty="0"/>
              <a:t>Titel über eine Zeile</a:t>
            </a:r>
          </a:p>
        </p:txBody>
      </p:sp>
      <p:sp>
        <p:nvSpPr>
          <p:cNvPr id="8" name="Textplatzhalter 19">
            <a:extLst>
              <a:ext uri="{FF2B5EF4-FFF2-40B4-BE49-F238E27FC236}">
                <a16:creationId xmlns:a16="http://schemas.microsoft.com/office/drawing/2014/main" id="{0A0C1D73-9C59-1648-91B9-833E9EBEF5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753557" y="4329287"/>
            <a:ext cx="11005959" cy="100171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de-DE" dirty="0"/>
              <a:t>Hier steht eine Unterüberschrift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8581612-CDA8-9981-FD7F-36CC7ED71F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2715" y="3675701"/>
            <a:ext cx="370497" cy="40360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755AEBD-55A5-3F77-945B-07E33CC8778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2667" y="331904"/>
            <a:ext cx="2136848" cy="63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4237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vorgehobene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E32178-D844-CE44-9227-46B3AC2008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783" y="361363"/>
            <a:ext cx="10515600" cy="75088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1F4B771-43A4-0C43-B113-282D60EF44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3973" y="2000883"/>
            <a:ext cx="4537115" cy="3598358"/>
          </a:xfrm>
          <a:prstGeom prst="rect">
            <a:avLst/>
          </a:prstGeom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F6630748-9A98-44FC-83AD-411FEBE8C4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783" y="2000883"/>
            <a:ext cx="5472217" cy="3598358"/>
          </a:xfrm>
          <a:prstGeom prst="rect">
            <a:avLst/>
          </a:prstGeom>
        </p:spPr>
        <p:txBody>
          <a:bodyPr/>
          <a:lstStyle>
            <a:lvl1pPr marL="284400" marR="0" indent="-2844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Tx/>
              <a:buFont typeface="Wingdings" panose="05000000000000000000" pitchFamily="2" charset="2"/>
              <a:buChar char="§"/>
              <a:tabLst/>
              <a:defRPr sz="18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30000" marR="0" indent="-284400" algn="l" defTabSz="6858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Tx/>
              <a:buFont typeface="Wingdings" panose="05000000000000000000" pitchFamily="2" charset="2"/>
              <a:buChar char="§"/>
              <a:tabLst/>
              <a:defRPr sz="1600" b="0" i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72000" marR="0" indent="-284400" algn="l" defTabSz="6858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Tx/>
              <a:buFont typeface="Wingdings" pitchFamily="2" charset="2"/>
              <a:buChar char="§"/>
              <a:tabLst/>
              <a:defRPr sz="1400" b="0" i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50" marR="0" indent="-171450" algn="l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 dirty="0"/>
              <a:t>Bullet Point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Erste Ebene</a:t>
            </a:r>
          </a:p>
          <a:p>
            <a:pPr lvl="0"/>
            <a:endParaRPr lang="de-DE" dirty="0"/>
          </a:p>
          <a:p>
            <a:pPr lvl="2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6410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9F8158BF-0FCF-6E4B-8E7D-A557EFB2BA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04" y="3574742"/>
            <a:ext cx="10925587" cy="132556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de-DE" dirty="0"/>
              <a:t>Zwischenseite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FE26FB6-8CA3-EBE2-41D1-F182352627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2715" y="3675701"/>
            <a:ext cx="370497" cy="40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51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9F8158BF-0FCF-6E4B-8E7D-A557EFB2BA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04" y="3574742"/>
            <a:ext cx="10925587" cy="643298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de-DE" dirty="0" err="1"/>
              <a:t>Dankeseite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AD8ACBA-7348-B444-89B7-E67D51BE9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4118" y="4379913"/>
            <a:ext cx="10924116" cy="12239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Vielen Dank für Ihre Aufmerksamkeit!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5F297BF-67C6-E705-5706-F8A8C92D3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2715" y="3675701"/>
            <a:ext cx="370497" cy="40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7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emf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CA3445A9-586C-E44E-9FA3-B160DD38F7D2}"/>
              </a:ext>
            </a:extLst>
          </p:cNvPr>
          <p:cNvSpPr/>
          <p:nvPr userDrawn="1"/>
        </p:nvSpPr>
        <p:spPr bwMode="hidden">
          <a:xfrm flipV="1">
            <a:off x="0" y="6172491"/>
            <a:ext cx="12192000" cy="684000"/>
          </a:xfrm>
          <a:prstGeom prst="rect">
            <a:avLst/>
          </a:prstGeom>
          <a:solidFill>
            <a:srgbClr val="C5192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4000" tIns="67500" rIns="67500" bIns="67500" rtlCol="0" anchor="t"/>
          <a:lstStyle/>
          <a:p>
            <a:pPr>
              <a:lnSpc>
                <a:spcPct val="110000"/>
              </a:lnSpc>
            </a:pPr>
            <a:endParaRPr lang="de-DE" sz="1200" b="0" i="0" dirty="0">
              <a:solidFill>
                <a:srgbClr val="0D99FC"/>
              </a:solidFill>
              <a:latin typeface="Open Sans" panose="020B0606030504020204" pitchFamily="34" charset="0"/>
            </a:endParaRPr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98500DB4-6915-9845-A001-80945356C6CC}"/>
              </a:ext>
            </a:extLst>
          </p:cNvPr>
          <p:cNvSpPr txBox="1">
            <a:spLocks/>
          </p:cNvSpPr>
          <p:nvPr userDrawn="1"/>
        </p:nvSpPr>
        <p:spPr>
          <a:xfrm>
            <a:off x="11192000" y="6318001"/>
            <a:ext cx="661072" cy="248949"/>
          </a:xfrm>
          <a:prstGeom prst="rect">
            <a:avLst/>
          </a:prstGeom>
        </p:spPr>
        <p:txBody>
          <a:bodyPr anchor="t"/>
          <a:lstStyle>
            <a:defPPr>
              <a:defRPr lang="de-DE"/>
            </a:defPPr>
            <a:lvl1pPr marL="0" algn="l" defTabSz="914400" rtl="0" eaLnBrk="1" latinLnBrk="0" hangingPunct="1"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A611349-95DF-F144-82AA-724B5262B266}" type="slidenum">
              <a:rPr lang="de-DE" sz="800" b="0" i="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/>
              <a:t>‹#›</a:t>
            </a:fld>
            <a:endParaRPr lang="de-DE" sz="800" b="0" i="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97040CD4-CFA2-574C-9E65-8ACD16A8B8A7}"/>
              </a:ext>
            </a:extLst>
          </p:cNvPr>
          <p:cNvSpPr txBox="1">
            <a:spLocks/>
          </p:cNvSpPr>
          <p:nvPr userDrawn="1"/>
        </p:nvSpPr>
        <p:spPr>
          <a:xfrm>
            <a:off x="8999293" y="6318000"/>
            <a:ext cx="1768000" cy="273844"/>
          </a:xfrm>
          <a:prstGeom prst="rect">
            <a:avLst/>
          </a:prstGeom>
        </p:spPr>
        <p:txBody>
          <a:bodyPr anchor="t"/>
          <a:lstStyle>
            <a:defPPr>
              <a:defRPr lang="de-DE"/>
            </a:defPPr>
            <a:lvl1pPr marL="0" algn="l" defTabSz="914400" rtl="0" eaLnBrk="1" latinLnBrk="0" hangingPunct="1"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08. </a:t>
            </a:r>
            <a:r>
              <a:rPr lang="de-DE" sz="8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February</a:t>
            </a:r>
            <a:r>
              <a:rPr lang="de-DE" sz="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2026</a:t>
            </a:r>
          </a:p>
        </p:txBody>
      </p:sp>
      <p:sp>
        <p:nvSpPr>
          <p:cNvPr id="28" name="Fußzeilenplatzhalter 4">
            <a:extLst>
              <a:ext uri="{FF2B5EF4-FFF2-40B4-BE49-F238E27FC236}">
                <a16:creationId xmlns:a16="http://schemas.microsoft.com/office/drawing/2014/main" id="{C5F20AC7-5E10-BD40-9F84-515932E75E34}"/>
              </a:ext>
            </a:extLst>
          </p:cNvPr>
          <p:cNvSpPr txBox="1">
            <a:spLocks/>
          </p:cNvSpPr>
          <p:nvPr userDrawn="1"/>
        </p:nvSpPr>
        <p:spPr>
          <a:xfrm>
            <a:off x="515586" y="6273534"/>
            <a:ext cx="4133207" cy="248949"/>
          </a:xfrm>
          <a:prstGeom prst="rect">
            <a:avLst/>
          </a:prstGeom>
        </p:spPr>
        <p:txBody>
          <a:bodyPr anchor="t"/>
          <a:lstStyle>
            <a:defPPr>
              <a:defRPr lang="de-DE"/>
            </a:defPPr>
            <a:lvl1pPr marL="0" algn="l" defTabSz="914400" rtl="0" eaLnBrk="1" latinLnBrk="0" hangingPunct="1"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endParaRPr lang="de-DE" sz="1000" b="1" i="0" baseline="0" dirty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29" name="Fußzeilenplatzhalter 4">
            <a:extLst>
              <a:ext uri="{FF2B5EF4-FFF2-40B4-BE49-F238E27FC236}">
                <a16:creationId xmlns:a16="http://schemas.microsoft.com/office/drawing/2014/main" id="{79574E4B-43F3-2747-BA46-F08C50CA79F8}"/>
              </a:ext>
            </a:extLst>
          </p:cNvPr>
          <p:cNvSpPr txBox="1">
            <a:spLocks/>
          </p:cNvSpPr>
          <p:nvPr userDrawn="1"/>
        </p:nvSpPr>
        <p:spPr>
          <a:xfrm>
            <a:off x="5040001" y="6273534"/>
            <a:ext cx="4133207" cy="248949"/>
          </a:xfrm>
          <a:prstGeom prst="rect">
            <a:avLst/>
          </a:prstGeom>
        </p:spPr>
        <p:txBody>
          <a:bodyPr anchor="t"/>
          <a:lstStyle>
            <a:defPPr>
              <a:defRPr lang="de-DE"/>
            </a:defPPr>
            <a:lvl1pPr marL="0" algn="l" defTabSz="914400" rtl="0" eaLnBrk="1" latinLnBrk="0" hangingPunct="1"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000" b="1" i="0" baseline="0" dirty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7BBC0D6C-11AB-45DC-BE5F-E31F96A86AAF}"/>
              </a:ext>
            </a:extLst>
          </p:cNvPr>
          <p:cNvSpPr txBox="1">
            <a:spLocks/>
          </p:cNvSpPr>
          <p:nvPr userDrawn="1"/>
        </p:nvSpPr>
        <p:spPr>
          <a:xfrm>
            <a:off x="626444" y="6300001"/>
            <a:ext cx="4531208" cy="447335"/>
          </a:xfrm>
          <a:prstGeom prst="rect">
            <a:avLst/>
          </a:prstGeom>
        </p:spPr>
        <p:txBody>
          <a:bodyPr lIns="90000" tIns="46800" rIns="90000" bIns="468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kern="12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4400" b="1">
                <a:solidFill>
                  <a:srgbClr val="FFFFFF"/>
                </a:solidFill>
              </a:defRPr>
            </a:pPr>
            <a:r>
              <a:rPr lang="en-GB" sz="1000" dirty="0"/>
              <a:t>AI Methods for Classification of Production Errors on Camera Images of Additive Manufacturing Processes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7C409BE3-6E9F-1266-48ED-5285FCBC9874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9447" y="6375490"/>
            <a:ext cx="85105" cy="92711"/>
          </a:xfrm>
          <a:prstGeom prst="rect">
            <a:avLst/>
          </a:prstGeom>
        </p:spPr>
      </p:pic>
      <p:sp>
        <p:nvSpPr>
          <p:cNvPr id="13" name="Ramya Subramanian Porselva Bharathi">
            <a:extLst>
              <a:ext uri="{FF2B5EF4-FFF2-40B4-BE49-F238E27FC236}">
                <a16:creationId xmlns:a16="http://schemas.microsoft.com/office/drawing/2014/main" id="{E2F4948D-81BE-42B5-AE25-E680FD6F757E}"/>
              </a:ext>
            </a:extLst>
          </p:cNvPr>
          <p:cNvSpPr txBox="1">
            <a:spLocks/>
          </p:cNvSpPr>
          <p:nvPr userDrawn="1"/>
        </p:nvSpPr>
        <p:spPr>
          <a:xfrm>
            <a:off x="5354424" y="6300001"/>
            <a:ext cx="3421931" cy="303213"/>
          </a:xfrm>
          <a:prstGeom prst="rect">
            <a:avLst/>
          </a:prstGeom>
        </p:spPr>
        <p:txBody>
          <a:bodyPr lIns="90000" tIns="46800" rIns="90000" bIns="468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kern="12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Ramya Subramanian </a:t>
            </a:r>
            <a:r>
              <a:rPr lang="en-GB" dirty="0" err="1"/>
              <a:t>Porselva</a:t>
            </a:r>
            <a:r>
              <a:rPr lang="en-GB" dirty="0"/>
              <a:t> Bharathi</a:t>
            </a:r>
            <a:endParaRPr lang="de-DE" sz="1000" b="1" dirty="0"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DB08ECAC-E8DF-A869-17F1-67926B0458F0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2667" y="331904"/>
            <a:ext cx="2136848" cy="6356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96427B-A415-D25C-1DBC-FE74EE8EF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DE" dirty="0"/>
          </a:p>
        </p:txBody>
      </p:sp>
      <p:sp>
        <p:nvSpPr>
          <p:cNvPr id="3" name="Footer Placeholder 2" hidden="1">
            <a:extLst>
              <a:ext uri="{FF2B5EF4-FFF2-40B4-BE49-F238E27FC236}">
                <a16:creationId xmlns:a16="http://schemas.microsoft.com/office/drawing/2014/main" id="{49EF8437-FB6E-08E7-A6B3-9F0AFF4C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45565" y="6215312"/>
            <a:ext cx="4114800" cy="404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>
                <a:solidFill>
                  <a:schemeClr val="bg1"/>
                </a:solidFill>
              </a:defRPr>
            </a:lvl1pPr>
          </a:lstStyle>
          <a:p>
            <a:endParaRPr lang="en-D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1D4265-44E5-E737-2126-9756FF3A2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FD5774-1BF4-A019-0F3E-26EF3C8BC0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B27CE4-59B8-1A41-A967-268CCA37D47A}" type="slidenum">
              <a:rPr lang="en-DE" smtClean="0"/>
              <a:t>‹#›</a:t>
            </a:fld>
            <a:endParaRPr lang="en-DE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490F70D-57E2-D7D3-9EE6-53E3A8CB7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957E7-8A81-8A47-BF7D-15924B155E07}" type="datetimeFigureOut">
              <a:rPr lang="en-DE" smtClean="0"/>
              <a:t>08.02.26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14159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7" r:id="rId2"/>
    <p:sldLayoutId id="2147483663" r:id="rId3"/>
    <p:sldLayoutId id="2147483662" r:id="rId4"/>
    <p:sldLayoutId id="2147483728" r:id="rId5"/>
    <p:sldLayoutId id="2147483729" r:id="rId6"/>
    <p:sldLayoutId id="2147483720" r:id="rId7"/>
    <p:sldLayoutId id="2147483730" r:id="rId8"/>
    <p:sldLayoutId id="2147483731" r:id="rId9"/>
  </p:sldLayoutIdLst>
  <p:hf sldNum="0"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F8C73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180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5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8852ADB-0CC1-EAF3-753A-065F7460527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40" y="-340354"/>
            <a:ext cx="291445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21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2" r:id="rId2"/>
    <p:sldLayoutId id="2147483721" r:id="rId3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matdes.2016.01.099" TargetMode="External"/><Relationship Id="rId13" Type="http://schemas.openxmlformats.org/officeDocument/2006/relationships/hyperlink" Target="https://doi.org/10.1115/DETC2019-98415" TargetMode="External"/><Relationship Id="rId3" Type="http://schemas.openxmlformats.org/officeDocument/2006/relationships/hyperlink" Target="https://doi.org/10.3390/mi15010028" TargetMode="External"/><Relationship Id="rId7" Type="http://schemas.openxmlformats.org/officeDocument/2006/relationships/hyperlink" Target="https://doi.org/10.1016/j.addma.2018.09.034" TargetMode="External"/><Relationship Id="rId12" Type="http://schemas.openxmlformats.org/officeDocument/2006/relationships/hyperlink" Target="https://doi.org/10.1016/j.jmatprotec.2022.117550" TargetMode="External"/><Relationship Id="rId17" Type="http://schemas.openxmlformats.org/officeDocument/2006/relationships/hyperlink" Target="https://doi.org/10.1007/s10845-018-1412-0" TargetMode="External"/><Relationship Id="rId2" Type="http://schemas.openxmlformats.org/officeDocument/2006/relationships/hyperlink" Target="https://doi.org/10.1007/s00170-024-14191-6" TargetMode="External"/><Relationship Id="rId16" Type="http://schemas.openxmlformats.org/officeDocument/2006/relationships/hyperlink" Target="https://doi.org/10.1016/j.matt.2020.08.023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i.org/10.1088/1361-6501/aa5c4f" TargetMode="External"/><Relationship Id="rId11" Type="http://schemas.openxmlformats.org/officeDocument/2006/relationships/hyperlink" Target="https://doi.org/10.1016/j.jmapro.2023.10.006" TargetMode="External"/><Relationship Id="rId5" Type="http://schemas.openxmlformats.org/officeDocument/2006/relationships/hyperlink" Target="https://doi.org/10.1007/s11665-014-0958-z" TargetMode="External"/><Relationship Id="rId15" Type="http://schemas.openxmlformats.org/officeDocument/2006/relationships/hyperlink" Target="https://doi.org/10.1016/j.addma.2018.04.005" TargetMode="External"/><Relationship Id="rId10" Type="http://schemas.openxmlformats.org/officeDocument/2006/relationships/hyperlink" Target="https://doi.org/10.1007/s40964-019-00108-3" TargetMode="External"/><Relationship Id="rId4" Type="http://schemas.openxmlformats.org/officeDocument/2006/relationships/hyperlink" Target="https://doi.org/10.3390/pr12040633" TargetMode="External"/><Relationship Id="rId9" Type="http://schemas.openxmlformats.org/officeDocument/2006/relationships/hyperlink" Target="https://doi.org/10.1016/j.addma.2017.08.003" TargetMode="External"/><Relationship Id="rId14" Type="http://schemas.openxmlformats.org/officeDocument/2006/relationships/hyperlink" Target="https://doi.org/10.1109/CVPR.2016.91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1996729-6A5B-1042-BE85-7DC0AD636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606" y="3429000"/>
            <a:ext cx="8549728" cy="1471305"/>
          </a:xfrm>
        </p:spPr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lang="en-GB" sz="3200" dirty="0"/>
              <a:t>AI Methods for Classification of Production Errors on Camera Images of Additive Manufacturing Processes</a:t>
            </a:r>
            <a:br>
              <a:rPr lang="en-GB" sz="3200" dirty="0"/>
            </a:br>
            <a:r>
              <a:rPr lang="en-GB" sz="1600" dirty="0"/>
              <a:t>A Systematic Review</a:t>
            </a:r>
            <a:br>
              <a:rPr lang="en-GB" sz="1600" dirty="0"/>
            </a:br>
            <a:endParaRPr lang="en-GB" sz="3200" dirty="0"/>
          </a:p>
        </p:txBody>
      </p:sp>
      <p:sp>
        <p:nvSpPr>
          <p:cNvPr id="6" name="Textplatzhalter 1">
            <a:extLst>
              <a:ext uri="{FF2B5EF4-FFF2-40B4-BE49-F238E27FC236}">
                <a16:creationId xmlns:a16="http://schemas.microsoft.com/office/drawing/2014/main" id="{237F4E19-B087-0F4E-B590-25C9C6E39E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Ramya Subramanian </a:t>
            </a:r>
            <a:r>
              <a:rPr lang="en-GB" dirty="0" err="1"/>
              <a:t>Porselva</a:t>
            </a:r>
            <a:r>
              <a:rPr lang="en-GB" dirty="0"/>
              <a:t> Bharathi</a:t>
            </a:r>
            <a:br>
              <a:rPr lang="en-GB" dirty="0"/>
            </a:br>
            <a:r>
              <a:rPr lang="en-GB" dirty="0"/>
              <a:t>Matriculation Number: 224201309</a:t>
            </a:r>
          </a:p>
          <a:p>
            <a:r>
              <a:rPr lang="de-DE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08. </a:t>
            </a:r>
            <a:r>
              <a:rPr lang="de-DE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February</a:t>
            </a:r>
            <a:r>
              <a:rPr lang="de-DE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2026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619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385E93-D1B2-4407-AC78-4F046C1D0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Presentation Outline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55B3DA0-CADC-4F74-97CD-D06AA92EFF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1000"/>
              </a:spcAft>
              <a:defRPr sz="1600" b="0">
                <a:solidFill>
                  <a:srgbClr val="000000"/>
                </a:solidFill>
              </a:defRPr>
            </a:pPr>
            <a:r>
              <a:rPr lang="en-GB" dirty="0"/>
              <a:t>1. Introduction: Context and Importance of AM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1000"/>
              </a:spcAft>
              <a:defRPr sz="1600" b="0">
                <a:solidFill>
                  <a:srgbClr val="000000"/>
                </a:solidFill>
              </a:defRPr>
            </a:pPr>
            <a:r>
              <a:rPr lang="en-GB" dirty="0"/>
              <a:t>2. Problem Statement and Research Objectives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1000"/>
              </a:spcAft>
              <a:defRPr sz="1600" b="0">
                <a:solidFill>
                  <a:srgbClr val="000000"/>
                </a:solidFill>
              </a:defRPr>
            </a:pPr>
            <a:r>
              <a:rPr lang="en-GB" dirty="0"/>
              <a:t>3. Theoretical Background: AM Processes and Defects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1000"/>
              </a:spcAft>
              <a:defRPr sz="1600" b="0">
                <a:solidFill>
                  <a:srgbClr val="000000"/>
                </a:solidFill>
              </a:defRPr>
            </a:pPr>
            <a:r>
              <a:rPr lang="en-GB" dirty="0"/>
              <a:t>4. Camera-Based Monitoring Systems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1000"/>
              </a:spcAft>
              <a:defRPr sz="1600" b="0">
                <a:solidFill>
                  <a:srgbClr val="000000"/>
                </a:solidFill>
              </a:defRPr>
            </a:pPr>
            <a:r>
              <a:rPr lang="en-GB" dirty="0"/>
              <a:t>5. AI Approaches: Traditional → Classical ML → Deep Learning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1000"/>
              </a:spcAft>
              <a:defRPr sz="1600" b="0">
                <a:solidFill>
                  <a:srgbClr val="000000"/>
                </a:solidFill>
              </a:defRPr>
            </a:pPr>
            <a:r>
              <a:rPr lang="en-GB" dirty="0"/>
              <a:t>6. Comparative Analysis of Methods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1000"/>
              </a:spcAft>
              <a:defRPr sz="1600" b="0">
                <a:solidFill>
                  <a:srgbClr val="000000"/>
                </a:solidFill>
              </a:defRPr>
            </a:pPr>
            <a:r>
              <a:rPr lang="en-GB" dirty="0"/>
              <a:t>7. Case Studies and Performance Results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1000"/>
              </a:spcAft>
              <a:defRPr sz="1600" b="0">
                <a:solidFill>
                  <a:srgbClr val="000000"/>
                </a:solidFill>
              </a:defRPr>
            </a:pPr>
            <a:r>
              <a:rPr lang="en-GB" dirty="0"/>
              <a:t>8. Strengths and Weaknesses Analysis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1000"/>
              </a:spcAft>
              <a:defRPr sz="1600" b="0">
                <a:solidFill>
                  <a:srgbClr val="000000"/>
                </a:solidFill>
              </a:defRPr>
            </a:pPr>
            <a:r>
              <a:rPr lang="en-GB" dirty="0"/>
              <a:t>9. Challenges and Future Research Directions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1000"/>
              </a:spcAft>
              <a:defRPr sz="1600" b="0">
                <a:solidFill>
                  <a:srgbClr val="000000"/>
                </a:solidFill>
              </a:defRPr>
            </a:pPr>
            <a:r>
              <a:rPr lang="en-GB" dirty="0"/>
              <a:t>10. Conclusions and Key Findings</a:t>
            </a:r>
          </a:p>
        </p:txBody>
      </p:sp>
    </p:spTree>
    <p:extLst>
      <p:ext uri="{BB962C8B-B14F-4D97-AF65-F5344CB8AC3E}">
        <p14:creationId xmlns:p14="http://schemas.microsoft.com/office/powerpoint/2010/main" val="185001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213C512-551C-5640-8E3A-6A873E584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4" y="365129"/>
            <a:ext cx="10515600" cy="1082072"/>
          </a:xfrm>
        </p:spPr>
        <p:txBody>
          <a:bodyPr anchor="ctr">
            <a:normAutofit/>
          </a:bodyPr>
          <a:lstStyle/>
          <a:p>
            <a:r>
              <a:rPr lang="en-GB" dirty="0"/>
              <a:t>Introduction: Context and Importance</a:t>
            </a:r>
            <a:endParaRPr lang="de-DE" dirty="0"/>
          </a:p>
        </p:txBody>
      </p:sp>
      <p:pic>
        <p:nvPicPr>
          <p:cNvPr id="8" name="Picture Placeholder 7" descr="Diagram of a machine processing process&#10;&#10;Description automatically generated">
            <a:extLst>
              <a:ext uri="{FF2B5EF4-FFF2-40B4-BE49-F238E27FC236}">
                <a16:creationId xmlns:a16="http://schemas.microsoft.com/office/drawing/2014/main" id="{CC16A01F-1DEA-BE57-204C-E88C57E9532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875" r="875"/>
          <a:stretch/>
        </p:blipFill>
        <p:spPr>
          <a:xfrm>
            <a:off x="767470" y="1468390"/>
            <a:ext cx="4418878" cy="2945920"/>
          </a:xfrm>
          <a:prstGeom prst="rect">
            <a:avLst/>
          </a:prstGeom>
          <a:noFill/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FDF4508-2614-48AC-892D-44EF2D81D8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33395" y="1468392"/>
            <a:ext cx="5724525" cy="401796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ts val="600"/>
              </a:spcBef>
              <a:spcAft>
                <a:spcPts val="1000"/>
              </a:spcAft>
              <a:buNone/>
              <a:defRPr sz="1800" b="1">
                <a:solidFill>
                  <a:srgbClr val="000000"/>
                </a:solidFill>
              </a:defRPr>
            </a:pPr>
            <a:r>
              <a:rPr lang="en-GB" dirty="0"/>
              <a:t>What is Additive Manufacturing?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1000"/>
              </a:spcAft>
              <a:defRPr sz="1400" b="0">
                <a:solidFill>
                  <a:srgbClr val="000000"/>
                </a:solidFill>
              </a:defRPr>
            </a:pPr>
            <a:r>
              <a:rPr lang="en-GB" dirty="0"/>
              <a:t>Additive Manufacturing (AM) builds parts layer by layer from digital models, enabling complex geometries, reduced material waste, and design freedom beyond conventional manufacturing methods [4].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lang="en-GB" dirty="0"/>
              <a:t>Key Applications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300" b="0">
                <a:solidFill>
                  <a:srgbClr val="000000"/>
                </a:solidFill>
              </a:defRPr>
            </a:pPr>
            <a:r>
              <a:rPr lang="en-GB" dirty="0"/>
              <a:t>Aerospace: Lightweight structures, complex components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300" b="0">
                <a:solidFill>
                  <a:srgbClr val="000000"/>
                </a:solidFill>
              </a:defRPr>
            </a:pPr>
            <a:r>
              <a:rPr lang="en-GB" dirty="0"/>
              <a:t>Automotive: Customized parts, rapid prototyping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1000"/>
              </a:spcAft>
              <a:defRPr sz="1300" b="0">
                <a:solidFill>
                  <a:srgbClr val="000000"/>
                </a:solidFill>
              </a:defRPr>
            </a:pPr>
            <a:r>
              <a:rPr lang="en-GB" dirty="0"/>
              <a:t>Biomedical: Patient-specific implants, prosthetics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80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lang="en-GB" dirty="0"/>
              <a:t>Critical Challenge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1300" b="0">
                <a:solidFill>
                  <a:srgbClr val="000000"/>
                </a:solidFill>
              </a:defRPr>
            </a:pPr>
            <a:r>
              <a:rPr lang="en-GB" dirty="0"/>
              <a:t>Defects compromise structural integrity, significantly increasing production cost and time [5,7].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A1B2E786-4C34-BD6E-C04A-E7091FF3BF6D}"/>
              </a:ext>
            </a:extLst>
          </p:cNvPr>
          <p:cNvSpPr txBox="1">
            <a:spLocks/>
          </p:cNvSpPr>
          <p:nvPr/>
        </p:nvSpPr>
        <p:spPr>
          <a:xfrm>
            <a:off x="766748" y="4414310"/>
            <a:ext cx="4419600" cy="552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Fig. 1: Layer-</a:t>
            </a:r>
            <a:r>
              <a:rPr lang="de-DE" dirty="0" err="1"/>
              <a:t>by</a:t>
            </a:r>
            <a:r>
              <a:rPr lang="de-DE" dirty="0"/>
              <a:t>-</a:t>
            </a:r>
            <a:r>
              <a:rPr lang="de-DE" dirty="0" err="1"/>
              <a:t>layer</a:t>
            </a:r>
            <a:r>
              <a:rPr lang="de-DE" dirty="0"/>
              <a:t> AM </a:t>
            </a:r>
            <a:r>
              <a:rPr lang="de-DE" dirty="0" err="1"/>
              <a:t>build</a:t>
            </a:r>
            <a:r>
              <a:rPr lang="de-DE" dirty="0"/>
              <a:t> </a:t>
            </a:r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showing</a:t>
            </a:r>
            <a:r>
              <a:rPr lang="de-DE" dirty="0"/>
              <a:t> material </a:t>
            </a:r>
            <a:r>
              <a:rPr lang="de-DE" dirty="0" err="1"/>
              <a:t>deposition</a:t>
            </a:r>
            <a:r>
              <a:rPr lang="de-DE" dirty="0"/>
              <a:t>. </a:t>
            </a:r>
            <a:r>
              <a:rPr lang="de-DE" dirty="0" err="1"/>
              <a:t>Adapted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[4]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5980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827B5-ADDB-2BA1-4A28-71817563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17DDCA8-3468-5F16-F375-F36D813A0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Problem Statement</a:t>
            </a:r>
            <a:br>
              <a:rPr lang="en-GB" dirty="0"/>
            </a:br>
            <a:br>
              <a:rPr lang="en-GB" dirty="0"/>
            </a:b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56C4F168-A71E-8413-07E6-5E7EC22459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444" y="771895"/>
            <a:ext cx="8476913" cy="53451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000" b="1">
                <a:solidFill>
                  <a:srgbClr val="000000"/>
                </a:solidFill>
              </a:defRPr>
            </a:pPr>
            <a:r>
              <a:rPr lang="en-GB" dirty="0"/>
              <a:t>Challenges in Visual Data Interpretation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500" b="0">
                <a:solidFill>
                  <a:srgbClr val="000000"/>
                </a:solidFill>
              </a:defRPr>
            </a:pPr>
            <a:r>
              <a:rPr lang="en-GB" dirty="0"/>
              <a:t>Despite advances in camera-based monitoring, reliably interpreting AM visual data remains challenging. Defect appearance is influenced by process conditions, lighting variability, material types, and defect morphology, making rule-based methods unreliable [7].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500" b="0">
                <a:solidFill>
                  <a:srgbClr val="000000"/>
                </a:solidFill>
              </a:defRPr>
            </a:pPr>
            <a:r>
              <a:rPr lang="en-GB" dirty="0"/>
              <a:t>Traditional threshold-based approaches achieve only 65–75% accuracy due to sensitivity to illumination changes and environmental factors [14].</a:t>
            </a:r>
          </a:p>
          <a:p>
            <a:pPr>
              <a:spcBef>
                <a:spcPts val="1500"/>
              </a:spcBef>
              <a:spcAft>
                <a:spcPts val="1200"/>
              </a:spcAft>
              <a:defRPr sz="2000" b="1">
                <a:solidFill>
                  <a:srgbClr val="000000"/>
                </a:solidFill>
              </a:defRPr>
            </a:pPr>
            <a:r>
              <a:rPr lang="en-GB" dirty="0"/>
              <a:t>Domain Shift Problem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500" b="0">
                <a:solidFill>
                  <a:srgbClr val="000000"/>
                </a:solidFill>
              </a:defRPr>
            </a:pPr>
            <a:r>
              <a:rPr lang="en-GB" dirty="0"/>
              <a:t>Domain shift - degraded performance when models trained on one system are applied to different hardware, represents a significant deployment barrier [7]. Most studies utilize proprietary or small-scale datasets from single machines, inadequately representing real-world production diversity [1].</a:t>
            </a:r>
          </a:p>
          <a:p>
            <a:pPr>
              <a:spcBef>
                <a:spcPts val="1500"/>
              </a:spcBef>
              <a:spcAft>
                <a:spcPts val="1000"/>
              </a:spcAft>
              <a:defRPr sz="1800" b="1">
                <a:solidFill>
                  <a:srgbClr val="000000"/>
                </a:solidFill>
              </a:defRPr>
            </a:pPr>
            <a:r>
              <a:rPr lang="en-GB" dirty="0"/>
              <a:t>Key Research Gap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500" b="0">
                <a:solidFill>
                  <a:srgbClr val="000000"/>
                </a:solidFill>
              </a:defRPr>
            </a:pPr>
            <a:r>
              <a:rPr lang="en-GB" dirty="0"/>
              <a:t>Limited publicly available benchmark datasets complicates systematic method comparison and reproducibility, necessitating systematic examination of AI methods, dataset characteristics, and deployment constraints [1].</a:t>
            </a:r>
          </a:p>
        </p:txBody>
      </p:sp>
    </p:spTree>
    <p:extLst>
      <p:ext uri="{BB962C8B-B14F-4D97-AF65-F5344CB8AC3E}">
        <p14:creationId xmlns:p14="http://schemas.microsoft.com/office/powerpoint/2010/main" val="2728664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D696E-908F-142E-198B-F59C3B911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8C68233-98DE-408F-A23E-0B04B60F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Research Objectives</a:t>
            </a:r>
            <a:br>
              <a:rPr lang="en-GB" dirty="0"/>
            </a:br>
            <a:br>
              <a:rPr lang="en-GB" dirty="0"/>
            </a:b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D48A1C3-AA4D-FBD3-6350-D6566A173E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444" y="1170057"/>
            <a:ext cx="8476913" cy="451788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000" b="1">
                <a:solidFill>
                  <a:srgbClr val="000000"/>
                </a:solidFill>
              </a:defRPr>
            </a:pPr>
            <a:r>
              <a:rPr lang="en-GB" dirty="0"/>
              <a:t>Primary Objectives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500" b="0">
                <a:solidFill>
                  <a:srgbClr val="000000"/>
                </a:solidFill>
              </a:defRPr>
            </a:pPr>
            <a:r>
              <a:rPr lang="en-GB" dirty="0"/>
              <a:t>1. This seminar paper critically reviews AI methods for classifying production errors from camera images in AM, focusing on deep learning approaches applied to real-time visual data.</a:t>
            </a:r>
          </a:p>
          <a:p>
            <a:pPr>
              <a:spcBef>
                <a:spcPts val="800"/>
              </a:spcBef>
              <a:spcAft>
                <a:spcPts val="1500"/>
              </a:spcAft>
              <a:defRPr sz="1500" b="0">
                <a:solidFill>
                  <a:srgbClr val="000000"/>
                </a:solidFill>
              </a:defRPr>
            </a:pPr>
            <a:r>
              <a:rPr lang="en-GB" dirty="0"/>
              <a:t>2. The scope encompasses CNN architectures, YOLO-based object detection, and semantic segmentation networks [13], examining publications from 2018–2025.</a:t>
            </a:r>
          </a:p>
          <a:p>
            <a:pPr>
              <a:spcBef>
                <a:spcPts val="1500"/>
              </a:spcBef>
              <a:spcAft>
                <a:spcPts val="1200"/>
              </a:spcAft>
              <a:defRPr sz="2000" b="1">
                <a:solidFill>
                  <a:srgbClr val="000000"/>
                </a:solidFill>
              </a:defRPr>
            </a:pPr>
            <a:r>
              <a:rPr lang="en-GB" dirty="0"/>
              <a:t>Secondary Objectives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 b="0">
                <a:solidFill>
                  <a:srgbClr val="000000"/>
                </a:solidFill>
              </a:defRPr>
            </a:pPr>
            <a:r>
              <a:rPr lang="en-GB" dirty="0"/>
              <a:t>• Compare AI techniques regarding methodological features, dataset requirements, and evaluation results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 b="0">
                <a:solidFill>
                  <a:srgbClr val="000000"/>
                </a:solidFill>
              </a:defRPr>
            </a:pPr>
            <a:r>
              <a:rPr lang="en-GB" dirty="0"/>
              <a:t>• Address classification accuracy, detection precision, computational requirements, data annotation burden, and robustness to domain shift [12]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 b="0">
                <a:solidFill>
                  <a:srgbClr val="000000"/>
                </a:solidFill>
              </a:defRPr>
            </a:pPr>
            <a:r>
              <a:rPr lang="en-GB" dirty="0"/>
              <a:t>• Synthesize insights highlighting open research directions for advancing AI-enabled visual monitoring, particularly regarding generalization, dataset diversity, and industrial integration</a:t>
            </a:r>
          </a:p>
        </p:txBody>
      </p:sp>
    </p:spTree>
    <p:extLst>
      <p:ext uri="{BB962C8B-B14F-4D97-AF65-F5344CB8AC3E}">
        <p14:creationId xmlns:p14="http://schemas.microsoft.com/office/powerpoint/2010/main" val="3153046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2BA12-9F3A-6194-9523-D066A852C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4" y="365130"/>
            <a:ext cx="10515600" cy="496517"/>
          </a:xfrm>
        </p:spPr>
        <p:txBody>
          <a:bodyPr anchor="ctr">
            <a:normAutofit/>
          </a:bodyPr>
          <a:lstStyle/>
          <a:p>
            <a:r>
              <a:rPr lang="en-GB" dirty="0"/>
              <a:t>Major Additive Manufacturing Processes</a:t>
            </a:r>
            <a:endParaRPr lang="de-DE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68A2A5-7D96-49C5-B0A0-0DB92B342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109776"/>
              </p:ext>
            </p:extLst>
          </p:nvPr>
        </p:nvGraphicFramePr>
        <p:xfrm>
          <a:off x="626445" y="2217770"/>
          <a:ext cx="10515512" cy="328231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967323">
                  <a:extLst>
                    <a:ext uri="{9D8B030D-6E8A-4147-A177-3AD203B41FA5}">
                      <a16:colId xmlns:a16="http://schemas.microsoft.com/office/drawing/2014/main" val="3338102536"/>
                    </a:ext>
                  </a:extLst>
                </a:gridCol>
                <a:gridCol w="2870067">
                  <a:extLst>
                    <a:ext uri="{9D8B030D-6E8A-4147-A177-3AD203B41FA5}">
                      <a16:colId xmlns:a16="http://schemas.microsoft.com/office/drawing/2014/main" val="1135220922"/>
                    </a:ext>
                  </a:extLst>
                </a:gridCol>
                <a:gridCol w="1746509">
                  <a:extLst>
                    <a:ext uri="{9D8B030D-6E8A-4147-A177-3AD203B41FA5}">
                      <a16:colId xmlns:a16="http://schemas.microsoft.com/office/drawing/2014/main" val="2922982390"/>
                    </a:ext>
                  </a:extLst>
                </a:gridCol>
                <a:gridCol w="2931613">
                  <a:extLst>
                    <a:ext uri="{9D8B030D-6E8A-4147-A177-3AD203B41FA5}">
                      <a16:colId xmlns:a16="http://schemas.microsoft.com/office/drawing/2014/main" val="2782494516"/>
                    </a:ext>
                  </a:extLst>
                </a:gridCol>
              </a:tblGrid>
              <a:tr h="469565">
                <a:tc>
                  <a:txBody>
                    <a:bodyPr/>
                    <a:lstStyle/>
                    <a:p>
                      <a:r>
                        <a:rPr lang="en-GB" sz="1600" b="1" cap="none" spc="60">
                          <a:solidFill>
                            <a:schemeClr val="bg1"/>
                          </a:solidFill>
                        </a:rPr>
                        <a:t>AM Process</a:t>
                      </a:r>
                    </a:p>
                  </a:txBody>
                  <a:tcPr marL="131619" marR="147419" marT="90570" marB="101246" anchor="ctr"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cap="none" spc="60">
                          <a:solidFill>
                            <a:schemeClr val="bg1"/>
                          </a:solidFill>
                        </a:rPr>
                        <a:t>Thermal Characteristics</a:t>
                      </a:r>
                    </a:p>
                  </a:txBody>
                  <a:tcPr marL="131619" marR="147419" marT="90570" marB="1012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cap="none" spc="60">
                          <a:solidFill>
                            <a:schemeClr val="bg1"/>
                          </a:solidFill>
                        </a:rPr>
                        <a:t>Resolution</a:t>
                      </a:r>
                    </a:p>
                  </a:txBody>
                  <a:tcPr marL="131619" marR="147419" marT="90570" marB="1012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cap="none" spc="60" dirty="0">
                          <a:solidFill>
                            <a:schemeClr val="bg1"/>
                          </a:solidFill>
                        </a:rPr>
                        <a:t>Key Characteristics</a:t>
                      </a:r>
                    </a:p>
                  </a:txBody>
                  <a:tcPr marL="131619" marR="147419" marT="90570" marB="1012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807901"/>
                  </a:ext>
                </a:extLst>
              </a:tr>
              <a:tr h="650705">
                <a:tc>
                  <a:txBody>
                    <a:bodyPr/>
                    <a:lstStyle/>
                    <a:p>
                      <a:r>
                        <a:rPr lang="en-GB" sz="1400" cap="none" spc="0" dirty="0">
                          <a:solidFill>
                            <a:schemeClr val="tx1"/>
                          </a:solidFill>
                        </a:rPr>
                        <a:t>Material Extrusion (FDM)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 dirty="0">
                          <a:solidFill>
                            <a:schemeClr val="tx1"/>
                          </a:solidFill>
                        </a:rPr>
                        <a:t>Heated thermoplastic extrusion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Moderate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Molten thermoplastic deposited via nozzle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595072"/>
                  </a:ext>
                </a:extLst>
              </a:tr>
              <a:tr h="650705"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Powder Bed Fusion (SLM/SLS)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 dirty="0">
                          <a:solidFill>
                            <a:schemeClr val="tx1"/>
                          </a:solidFill>
                        </a:rPr>
                        <a:t>High-temp melting with rapid cooling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Laser-based melting producing dense metal parts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176372"/>
                  </a:ext>
                </a:extLst>
              </a:tr>
              <a:tr h="650705"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Vat Photopolymerization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UV or laser-induced curing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High lateral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Excellent surface finish; shrinkage challenges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287674"/>
                  </a:ext>
                </a:extLst>
              </a:tr>
              <a:tr h="650705"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Directed Energy Deposition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>
                          <a:solidFill>
                            <a:schemeClr val="tx1"/>
                          </a:solidFill>
                        </a:rPr>
                        <a:t>Focused energy melting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cap="none" spc="0" dirty="0">
                          <a:solidFill>
                            <a:schemeClr val="tx1"/>
                          </a:solidFill>
                        </a:rPr>
                        <a:t>Repair and large component fabrication</a:t>
                      </a:r>
                    </a:p>
                  </a:txBody>
                  <a:tcPr marL="131619" marR="147419" marT="90570" marB="1012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85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432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7E6B-67FF-3737-DED8-D60BC26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4" y="365129"/>
            <a:ext cx="10515600" cy="1082072"/>
          </a:xfrm>
        </p:spPr>
        <p:txBody>
          <a:bodyPr anchor="ctr">
            <a:normAutofit/>
          </a:bodyPr>
          <a:lstStyle/>
          <a:p>
            <a:r>
              <a:rPr lang="en-GB" dirty="0"/>
              <a:t>Common AM Defects: Visual Signatures</a:t>
            </a:r>
            <a:endParaRPr lang="en-DE" dirty="0"/>
          </a:p>
        </p:txBody>
      </p:sp>
      <p:pic>
        <p:nvPicPr>
          <p:cNvPr id="7" name="Chart Placeholder 6" descr="A close-up of a chess board&#10;&#10;Description automatically generated">
            <a:extLst>
              <a:ext uri="{FF2B5EF4-FFF2-40B4-BE49-F238E27FC236}">
                <a16:creationId xmlns:a16="http://schemas.microsoft.com/office/drawing/2014/main" id="{C1AA88A8-0BF9-2F8C-DCC9-FAC51F67D2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/>
        </p:blipFill>
        <p:spPr>
          <a:xfrm>
            <a:off x="767109" y="2118199"/>
            <a:ext cx="4419600" cy="1646301"/>
          </a:xfrm>
          <a:prstGeom prst="rect">
            <a:avLst/>
          </a:prstGeom>
          <a:noFill/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6033862-B5B9-9D6C-F428-7F729F4DE4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33395" y="1468392"/>
            <a:ext cx="5724525" cy="401796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 sz="1300"/>
            </a:pPr>
            <a:r>
              <a:rPr lang="en-GB" sz="1600" b="1" dirty="0">
                <a:solidFill>
                  <a:srgbClr val="000000"/>
                </a:solidFill>
              </a:rPr>
              <a:t>Porosity: </a:t>
            </a:r>
            <a:r>
              <a:rPr lang="en-GB" sz="1600" dirty="0">
                <a:solidFill>
                  <a:srgbClr val="000000"/>
                </a:solidFill>
              </a:rPr>
              <a:t>Spherical/irregular voids (</a:t>
            </a:r>
            <a:r>
              <a:rPr lang="el-GR" sz="1600" dirty="0">
                <a:solidFill>
                  <a:srgbClr val="000000"/>
                </a:solidFill>
              </a:rPr>
              <a:t>μ</a:t>
            </a:r>
            <a:r>
              <a:rPr lang="en-GB" sz="1600" dirty="0">
                <a:solidFill>
                  <a:srgbClr val="000000"/>
                </a:solidFill>
              </a:rPr>
              <a:t>m to 100s </a:t>
            </a:r>
            <a:r>
              <a:rPr lang="el-GR" sz="1600" dirty="0">
                <a:solidFill>
                  <a:srgbClr val="000000"/>
                </a:solidFill>
              </a:rPr>
              <a:t>μ</a:t>
            </a:r>
            <a:r>
              <a:rPr lang="en-GB" sz="1600" dirty="0">
                <a:solidFill>
                  <a:srgbClr val="000000"/>
                </a:solidFill>
              </a:rPr>
              <a:t>m) appearing as dark circular/irregular voids</a:t>
            </a:r>
          </a:p>
          <a:p>
            <a:pPr>
              <a:spcAft>
                <a:spcPts val="600"/>
              </a:spcAft>
              <a:defRPr sz="1300"/>
            </a:pPr>
            <a:r>
              <a:rPr lang="en-GB" sz="1600" b="1" dirty="0">
                <a:solidFill>
                  <a:srgbClr val="000000"/>
                </a:solidFill>
              </a:rPr>
              <a:t>Lack of Fusion: </a:t>
            </a:r>
            <a:r>
              <a:rPr lang="en-GB" sz="1600" dirty="0">
                <a:solidFill>
                  <a:srgbClr val="000000"/>
                </a:solidFill>
              </a:rPr>
              <a:t>Incomplete bonding between tracks/layers showing irregular bonding patterns</a:t>
            </a:r>
          </a:p>
          <a:p>
            <a:pPr>
              <a:spcAft>
                <a:spcPts val="600"/>
              </a:spcAft>
              <a:defRPr sz="1300"/>
            </a:pPr>
            <a:r>
              <a:rPr lang="en-GB" sz="1600" b="1" dirty="0">
                <a:solidFill>
                  <a:srgbClr val="000000"/>
                </a:solidFill>
              </a:rPr>
              <a:t>Surface Roughness: </a:t>
            </a:r>
            <a:r>
              <a:rPr lang="en-GB" sz="1600" dirty="0">
                <a:solidFill>
                  <a:srgbClr val="000000"/>
                </a:solidFill>
              </a:rPr>
              <a:t>Striated patterns/textured appearances visible as textured/striated patterns</a:t>
            </a:r>
          </a:p>
          <a:p>
            <a:pPr>
              <a:spcAft>
                <a:spcPts val="600"/>
              </a:spcAft>
              <a:defRPr sz="1300"/>
            </a:pPr>
            <a:r>
              <a:rPr lang="en-GB" sz="1600" b="1" dirty="0">
                <a:solidFill>
                  <a:srgbClr val="000000"/>
                </a:solidFill>
              </a:rPr>
              <a:t>Layer Shifting &amp; Delamination: </a:t>
            </a:r>
            <a:r>
              <a:rPr lang="en-GB" sz="1600" dirty="0">
                <a:solidFill>
                  <a:srgbClr val="000000"/>
                </a:solidFill>
              </a:rPr>
              <a:t>Spatial discontinuities and separation between layers</a:t>
            </a:r>
          </a:p>
          <a:p>
            <a:pPr>
              <a:spcAft>
                <a:spcPts val="600"/>
              </a:spcAft>
              <a:defRPr sz="1300"/>
            </a:pPr>
            <a:r>
              <a:rPr lang="en-GB" sz="1600" b="1" dirty="0">
                <a:solidFill>
                  <a:srgbClr val="000000"/>
                </a:solidFill>
              </a:rPr>
              <a:t>Thermal Distortion: </a:t>
            </a:r>
            <a:r>
              <a:rPr lang="en-GB" sz="1600" dirty="0">
                <a:solidFill>
                  <a:srgbClr val="000000"/>
                </a:solidFill>
              </a:rPr>
              <a:t>Warping or curvature due to residual stresses</a:t>
            </a:r>
          </a:p>
        </p:txBody>
      </p:sp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EF0EAE28-2793-7DA0-B239-DEDA6DB36DD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DB49CD6F-D51C-FC4B-94E0-47A03D0A9B4F}" type="datetime1">
              <a:rPr lang="en-DE" smtClean="0"/>
              <a:pPr>
                <a:spcAft>
                  <a:spcPts val="600"/>
                </a:spcAft>
              </a:pPr>
              <a:t>08.02.26</a:t>
            </a:fld>
            <a:endParaRPr lang="en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ABD2B40A-0084-A7D2-7558-CDCED3CCCE74}"/>
              </a:ext>
            </a:extLst>
          </p:cNvPr>
          <p:cNvSpPr txBox="1">
            <a:spLocks/>
          </p:cNvSpPr>
          <p:nvPr/>
        </p:nvSpPr>
        <p:spPr>
          <a:xfrm>
            <a:off x="767109" y="3852999"/>
            <a:ext cx="4419600" cy="552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Fig. 2: (a): </a:t>
            </a:r>
            <a:r>
              <a:rPr lang="de-DE" dirty="0" err="1"/>
              <a:t>Porosity</a:t>
            </a:r>
            <a:r>
              <a:rPr lang="de-DE" dirty="0"/>
              <a:t> - </a:t>
            </a:r>
            <a:r>
              <a:rPr lang="de-DE" dirty="0" err="1"/>
              <a:t>dark</a:t>
            </a:r>
            <a:r>
              <a:rPr lang="de-DE" dirty="0"/>
              <a:t> </a:t>
            </a:r>
            <a:r>
              <a:rPr lang="de-DE" dirty="0" err="1"/>
              <a:t>circular</a:t>
            </a:r>
            <a:r>
              <a:rPr lang="de-DE" dirty="0"/>
              <a:t> </a:t>
            </a:r>
            <a:r>
              <a:rPr lang="de-DE" dirty="0" err="1"/>
              <a:t>voids</a:t>
            </a:r>
            <a:r>
              <a:rPr lang="de-DE" dirty="0"/>
              <a:t>, (b): Lack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fusion</a:t>
            </a:r>
            <a:r>
              <a:rPr lang="de-DE" dirty="0"/>
              <a:t> - </a:t>
            </a:r>
            <a:r>
              <a:rPr lang="de-DE" dirty="0" err="1"/>
              <a:t>irregular</a:t>
            </a:r>
            <a:r>
              <a:rPr lang="de-DE" dirty="0"/>
              <a:t> </a:t>
            </a:r>
            <a:r>
              <a:rPr lang="de-DE" dirty="0" err="1"/>
              <a:t>patterns</a:t>
            </a:r>
            <a:r>
              <a:rPr lang="de-DE" dirty="0"/>
              <a:t>, (c): Surface </a:t>
            </a:r>
            <a:r>
              <a:rPr lang="de-DE" dirty="0" err="1"/>
              <a:t>roughness</a:t>
            </a:r>
            <a:r>
              <a:rPr lang="de-DE" dirty="0"/>
              <a:t> - </a:t>
            </a:r>
            <a:r>
              <a:rPr lang="de-DE" dirty="0" err="1"/>
              <a:t>striated</a:t>
            </a:r>
            <a:r>
              <a:rPr lang="de-DE" dirty="0"/>
              <a:t> </a:t>
            </a:r>
            <a:r>
              <a:rPr lang="de-DE" dirty="0" err="1"/>
              <a:t>texture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9225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86C34-82FC-58B0-7202-C4136E27A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4" y="365129"/>
            <a:ext cx="10515600" cy="432894"/>
          </a:xfrm>
        </p:spPr>
        <p:txBody>
          <a:bodyPr anchor="ctr">
            <a:normAutofit/>
          </a:bodyPr>
          <a:lstStyle/>
          <a:p>
            <a:r>
              <a:rPr lang="en-GB" sz="2400"/>
              <a:t>Camera-Based Monitoring in AM</a:t>
            </a:r>
            <a:endParaRPr lang="en-DE" sz="2400"/>
          </a:p>
        </p:txBody>
      </p:sp>
      <p:pic>
        <p:nvPicPr>
          <p:cNvPr id="7" name="Picture 6" descr="A computer with a light in the background&#10;&#10;Description automatically generated">
            <a:extLst>
              <a:ext uri="{FF2B5EF4-FFF2-40B4-BE49-F238E27FC236}">
                <a16:creationId xmlns:a16="http://schemas.microsoft.com/office/drawing/2014/main" id="{0DC87722-6C95-3292-010E-481929461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711" y="2084012"/>
            <a:ext cx="4995333" cy="2403906"/>
          </a:xfrm>
          <a:prstGeom prst="rect">
            <a:avLst/>
          </a:prstGeom>
          <a:noFill/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61D1D82-0FE5-A02D-1A39-69E782BF01DC}"/>
              </a:ext>
            </a:extLst>
          </p:cNvPr>
          <p:cNvSpPr txBox="1">
            <a:spLocks/>
          </p:cNvSpPr>
          <p:nvPr/>
        </p:nvSpPr>
        <p:spPr>
          <a:xfrm>
            <a:off x="6146710" y="4502319"/>
            <a:ext cx="4995333" cy="1202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 sz="1800" b="0" i="0" kern="1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20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8E7469C-4E7B-C534-7FBA-6004A34B4C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7063" y="798023"/>
            <a:ext cx="5519648" cy="5276956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000"/>
              </a:spcAft>
              <a:buNone/>
              <a:defRPr sz="1800" b="1">
                <a:solidFill>
                  <a:srgbClr val="000000"/>
                </a:solidFill>
              </a:defRPr>
            </a:pPr>
            <a:r>
              <a:rPr lang="en-GB" sz="1400" dirty="0"/>
              <a:t>In-Situ Process Monitoring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In-situ process monitoring has become central to AM research as manufacturers transition from reactive post-process inspection toward proactive real-time quality control [7].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Camera-based systems are widely adopted due to their non-contact nature, relatively low cost, and ability to capture high-resolution spatial and temporal information [7].</a:t>
            </a:r>
          </a:p>
          <a:p>
            <a:pPr marL="0" indent="0">
              <a:spcBef>
                <a:spcPts val="1000"/>
              </a:spcBef>
              <a:spcAft>
                <a:spcPts val="80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lang="en-GB" sz="1400" dirty="0"/>
              <a:t>Key Advantages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  <a:r>
              <a:rPr lang="en-GB" sz="1400" dirty="0"/>
              <a:t>Observation of surface morphology, layer uniformity, and melt pool behaviour [14]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200" b="0">
                <a:solidFill>
                  <a:srgbClr val="000000"/>
                </a:solidFill>
              </a:defRPr>
            </a:pPr>
            <a:r>
              <a:rPr lang="en-GB" sz="1400" dirty="0"/>
              <a:t>Early process instability identification enabling real-time corrective actions [8]</a:t>
            </a:r>
          </a:p>
          <a:p>
            <a:pPr marL="0" indent="0">
              <a:spcBef>
                <a:spcPts val="1000"/>
              </a:spcBef>
              <a:spcAft>
                <a:spcPts val="80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lang="en-GB" sz="1400" dirty="0"/>
              <a:t>Key Challenges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  <a:r>
              <a:rPr lang="en-GB" sz="1400" dirty="0"/>
              <a:t>Lighting variation, metallic surface reflections, motion blur, sensor noise, environmental factors [7]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  <a:r>
              <a:rPr lang="en-GB" sz="1400" dirty="0"/>
              <a:t>Requires automated analysis to extract quality indicators [6]</a:t>
            </a:r>
          </a:p>
          <a:p>
            <a:pPr marL="0" indent="0">
              <a:buNone/>
            </a:pPr>
            <a:endParaRPr lang="en-GB" sz="1400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2F7BC854-0E55-D7F3-B6BA-61E4734196CE}"/>
              </a:ext>
            </a:extLst>
          </p:cNvPr>
          <p:cNvSpPr txBox="1">
            <a:spLocks/>
          </p:cNvSpPr>
          <p:nvPr/>
        </p:nvSpPr>
        <p:spPr>
          <a:xfrm>
            <a:off x="6146708" y="4613670"/>
            <a:ext cx="4995333" cy="552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Fig. 3: (a): </a:t>
            </a:r>
            <a:r>
              <a:rPr lang="de-DE" dirty="0" err="1"/>
              <a:t>Porosity</a:t>
            </a:r>
            <a:r>
              <a:rPr lang="de-DE" dirty="0"/>
              <a:t> - </a:t>
            </a:r>
            <a:r>
              <a:rPr lang="de-DE" dirty="0" err="1"/>
              <a:t>dark</a:t>
            </a:r>
            <a:r>
              <a:rPr lang="de-DE" dirty="0"/>
              <a:t> </a:t>
            </a:r>
            <a:r>
              <a:rPr lang="de-DE" dirty="0" err="1"/>
              <a:t>circular</a:t>
            </a:r>
            <a:r>
              <a:rPr lang="de-DE" dirty="0"/>
              <a:t> </a:t>
            </a:r>
            <a:r>
              <a:rPr lang="de-DE" dirty="0" err="1"/>
              <a:t>voids</a:t>
            </a:r>
            <a:r>
              <a:rPr lang="de-DE" dirty="0"/>
              <a:t>, (b): Lack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fusion</a:t>
            </a:r>
            <a:r>
              <a:rPr lang="de-DE" dirty="0"/>
              <a:t> - </a:t>
            </a:r>
            <a:r>
              <a:rPr lang="de-DE" dirty="0" err="1"/>
              <a:t>irregular</a:t>
            </a:r>
            <a:r>
              <a:rPr lang="de-DE" dirty="0"/>
              <a:t> </a:t>
            </a:r>
            <a:r>
              <a:rPr lang="de-DE" dirty="0" err="1"/>
              <a:t>patterns</a:t>
            </a:r>
            <a:r>
              <a:rPr lang="de-DE" dirty="0"/>
              <a:t>, (c): Surface </a:t>
            </a:r>
            <a:r>
              <a:rPr lang="de-DE" dirty="0" err="1"/>
              <a:t>roughness</a:t>
            </a:r>
            <a:r>
              <a:rPr lang="de-DE" dirty="0"/>
              <a:t> - </a:t>
            </a:r>
            <a:r>
              <a:rPr lang="de-DE" dirty="0" err="1"/>
              <a:t>striated</a:t>
            </a:r>
            <a:r>
              <a:rPr lang="de-DE" dirty="0"/>
              <a:t> </a:t>
            </a:r>
            <a:r>
              <a:rPr lang="de-DE" dirty="0" err="1"/>
              <a:t>texture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1041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A6F31-D640-E790-D904-B9E4BB087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07E78F-2338-01D3-FFA3-F6B207745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4" y="365130"/>
            <a:ext cx="10515600" cy="496517"/>
          </a:xfrm>
        </p:spPr>
        <p:txBody>
          <a:bodyPr anchor="ctr">
            <a:normAutofit/>
          </a:bodyPr>
          <a:lstStyle/>
          <a:p>
            <a:r>
              <a:rPr lang="en-GB" dirty="0"/>
              <a:t>Camera-Based Monitoring Modalities</a:t>
            </a:r>
            <a:endParaRPr lang="de-DE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9B73A3-2BA9-DD61-3592-12B6E4220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194752"/>
              </p:ext>
            </p:extLst>
          </p:nvPr>
        </p:nvGraphicFramePr>
        <p:xfrm>
          <a:off x="626445" y="2217770"/>
          <a:ext cx="10515512" cy="307238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967323">
                  <a:extLst>
                    <a:ext uri="{9D8B030D-6E8A-4147-A177-3AD203B41FA5}">
                      <a16:colId xmlns:a16="http://schemas.microsoft.com/office/drawing/2014/main" val="3338102536"/>
                    </a:ext>
                  </a:extLst>
                </a:gridCol>
                <a:gridCol w="2870067">
                  <a:extLst>
                    <a:ext uri="{9D8B030D-6E8A-4147-A177-3AD203B41FA5}">
                      <a16:colId xmlns:a16="http://schemas.microsoft.com/office/drawing/2014/main" val="1135220922"/>
                    </a:ext>
                  </a:extLst>
                </a:gridCol>
                <a:gridCol w="1746509">
                  <a:extLst>
                    <a:ext uri="{9D8B030D-6E8A-4147-A177-3AD203B41FA5}">
                      <a16:colId xmlns:a16="http://schemas.microsoft.com/office/drawing/2014/main" val="2922982390"/>
                    </a:ext>
                  </a:extLst>
                </a:gridCol>
                <a:gridCol w="2931613">
                  <a:extLst>
                    <a:ext uri="{9D8B030D-6E8A-4147-A177-3AD203B41FA5}">
                      <a16:colId xmlns:a16="http://schemas.microsoft.com/office/drawing/2014/main" val="2782494516"/>
                    </a:ext>
                  </a:extLst>
                </a:gridCol>
              </a:tblGrid>
              <a:tr h="469565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Modality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Capabilities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Relative Cost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807901"/>
                  </a:ext>
                </a:extLst>
              </a:tr>
              <a:tr h="650705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000000"/>
                          </a:solidFill>
                        </a:rPr>
                        <a:t>2D RGB Camera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Surface geometry, layer completeness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Low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Lighting sensitivity, no depth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595072"/>
                  </a:ext>
                </a:extLst>
              </a:tr>
              <a:tr h="65070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Thermal/IR Imaging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Temperature distribution, melt pool dynamics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Medium–High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Calibration, emissivity sensitivity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176372"/>
                  </a:ext>
                </a:extLst>
              </a:tr>
              <a:tr h="65070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Coaxial Imaging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Direct melt pool observation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Limited field of view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287674"/>
                  </a:ext>
                </a:extLst>
              </a:tr>
              <a:tr h="650705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000000"/>
                          </a:solidFill>
                        </a:rPr>
                        <a:t>3D Imaging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000000"/>
                          </a:solidFill>
                        </a:rPr>
                        <a:t>Geometric reconstruction, depth information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High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000000"/>
                          </a:solidFill>
                        </a:rPr>
                        <a:t>Higher computation, lower temporal resolution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85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474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012E0-9D51-1B83-5A8D-8EEB503FD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AA65B69C-F323-11D0-350B-B28C5E023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AI Foundations Relevant to Classification</a:t>
            </a:r>
            <a:br>
              <a:rPr lang="en-GB" dirty="0"/>
            </a:br>
            <a:br>
              <a:rPr lang="en-GB" dirty="0"/>
            </a:b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221D7FAC-AFC5-63FA-5A22-9C6E440A58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444" y="1170057"/>
            <a:ext cx="8476913" cy="483135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000" b="1">
                <a:solidFill>
                  <a:srgbClr val="000000"/>
                </a:solidFill>
              </a:defRPr>
            </a:pPr>
            <a:r>
              <a:rPr lang="en-GB" dirty="0"/>
              <a:t>Evolution of AI-Based Defect Detection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400" b="0">
                <a:solidFill>
                  <a:srgbClr val="000000"/>
                </a:solidFill>
              </a:defRPr>
            </a:pPr>
            <a:r>
              <a:rPr lang="en-GB" dirty="0"/>
              <a:t>AI has transformed defect detection from manual inspection toward intelligent automated systems [12]. Early approaches relied on traditional machine learning with handcrafted features (texture descriptors, intensity histograms), struggling to generalize across varying defect morphologies [6].</a:t>
            </a:r>
          </a:p>
          <a:p>
            <a:pPr>
              <a:spcBef>
                <a:spcPts val="800"/>
              </a:spcBef>
              <a:spcAft>
                <a:spcPts val="1500"/>
              </a:spcAft>
              <a:defRPr sz="1400" b="0">
                <a:solidFill>
                  <a:srgbClr val="000000"/>
                </a:solidFill>
              </a:defRPr>
            </a:pPr>
            <a:r>
              <a:rPr lang="en-GB" dirty="0"/>
              <a:t>Deep learning methods learn hierarchical feature representations directly from raw images through end-to-end optimization, thereby eliminating the need for manual feature engineering [6].</a:t>
            </a:r>
          </a:p>
          <a:p>
            <a:pPr>
              <a:spcBef>
                <a:spcPts val="1500"/>
              </a:spcBef>
              <a:spcAft>
                <a:spcPts val="1000"/>
              </a:spcAft>
              <a:defRPr sz="1800" b="1">
                <a:solidFill>
                  <a:srgbClr val="000000"/>
                </a:solidFill>
              </a:defRPr>
            </a:pPr>
            <a:r>
              <a:rPr lang="en-GB" dirty="0"/>
              <a:t>Convolutional Neural Networks (CNNs)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400" b="0">
                <a:solidFill>
                  <a:srgbClr val="000000"/>
                </a:solidFill>
              </a:defRPr>
            </a:pPr>
            <a:r>
              <a:rPr lang="en-GB" dirty="0"/>
              <a:t>CNNs are most widely used for image-based defect classification due to strong feature extraction via spatially invariant filters [1]. Popular variants include </a:t>
            </a:r>
            <a:r>
              <a:rPr lang="en-GB" dirty="0" err="1"/>
              <a:t>ResNet</a:t>
            </a:r>
            <a:r>
              <a:rPr lang="en-GB" dirty="0"/>
              <a:t>, VGG, and </a:t>
            </a:r>
            <a:r>
              <a:rPr lang="en-GB" dirty="0" err="1"/>
              <a:t>MobileNet</a:t>
            </a:r>
            <a:r>
              <a:rPr lang="en-GB" dirty="0"/>
              <a:t> [15].</a:t>
            </a:r>
          </a:p>
          <a:p>
            <a:pPr>
              <a:spcBef>
                <a:spcPts val="1200"/>
              </a:spcBef>
              <a:spcAft>
                <a:spcPts val="1000"/>
              </a:spcAft>
              <a:defRPr sz="1800" b="1">
                <a:solidFill>
                  <a:srgbClr val="000000"/>
                </a:solidFill>
              </a:defRPr>
            </a:pPr>
            <a:r>
              <a:rPr lang="en-GB" dirty="0"/>
              <a:t>Key Challenges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400" b="0">
                <a:solidFill>
                  <a:srgbClr val="000000"/>
                </a:solidFill>
              </a:defRPr>
            </a:pPr>
            <a:r>
              <a:rPr lang="en-GB" dirty="0"/>
              <a:t>Limited dataset sizes (deep learning requires hundreds to thousands of examples), class imbalance causing poor detection of rare critical defects, and domain shift degrading performance across machines/materials [1,7].</a:t>
            </a:r>
          </a:p>
        </p:txBody>
      </p:sp>
    </p:spTree>
    <p:extLst>
      <p:ext uri="{BB962C8B-B14F-4D97-AF65-F5344CB8AC3E}">
        <p14:creationId xmlns:p14="http://schemas.microsoft.com/office/powerpoint/2010/main" val="1520184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2A0C5-FBB7-11C6-41EF-2D6642FAB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2F95C4A-33DE-5354-E0A1-51EE54BA7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Traditional Image Processing Approaches</a:t>
            </a:r>
            <a:br>
              <a:rPr lang="en-GB" dirty="0"/>
            </a:br>
            <a:br>
              <a:rPr lang="en-GB" dirty="0"/>
            </a:b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CDE8DC7-815F-3011-9FE3-A8FE758C50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444" y="903890"/>
            <a:ext cx="8476913" cy="51710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000" b="1">
                <a:solidFill>
                  <a:srgbClr val="000000"/>
                </a:solidFill>
              </a:defRPr>
            </a:pPr>
            <a:r>
              <a:rPr lang="en-GB" sz="1400" dirty="0"/>
              <a:t>Methodology &amp; Pipeline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500" b="0">
                <a:solidFill>
                  <a:srgbClr val="000000"/>
                </a:solidFill>
              </a:defRPr>
            </a:pPr>
            <a:r>
              <a:rPr lang="en-GB" sz="1400" dirty="0"/>
              <a:t>Earliest approaches relied on handcrafted features and deterministic rules [12], following sequential pipelines: acquisition → preprocessing → feature extraction → threshold-based classification [14].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500" b="0">
                <a:solidFill>
                  <a:srgbClr val="000000"/>
                </a:solidFill>
              </a:defRPr>
            </a:pPr>
            <a:r>
              <a:rPr lang="en-GB" sz="1400" dirty="0"/>
              <a:t>Preprocessing includes grayscale conversion, noise reduction, and contrast enhancement to stabilize image quality [5]. Feature extraction focuses on edges, contours, texture statistics, and geometric properties [7].</a:t>
            </a:r>
          </a:p>
          <a:p>
            <a:pPr>
              <a:spcBef>
                <a:spcPts val="800"/>
              </a:spcBef>
              <a:spcAft>
                <a:spcPts val="1500"/>
              </a:spcAft>
              <a:defRPr sz="1500" b="0">
                <a:solidFill>
                  <a:srgbClr val="000000"/>
                </a:solidFill>
              </a:defRPr>
            </a:pPr>
            <a:r>
              <a:rPr lang="en-GB" sz="1400" dirty="0"/>
              <a:t>Common techniques include binary thresholding, morphological operations, and edge detection algorithms such as Sobel and Canny [7].</a:t>
            </a:r>
          </a:p>
          <a:p>
            <a:pPr>
              <a:spcBef>
                <a:spcPts val="1500"/>
              </a:spcBef>
              <a:spcAft>
                <a:spcPts val="1000"/>
              </a:spcAft>
              <a:defRPr sz="1800" b="1">
                <a:solidFill>
                  <a:srgbClr val="000000"/>
                </a:solidFill>
              </a:defRPr>
            </a:pPr>
            <a:r>
              <a:rPr lang="en-GB" sz="1400" dirty="0"/>
              <a:t>Performance Characteristics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✓ Computationally efficient (&gt;100 fps on CPUs)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✓ Transparent and interpretable decision-making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✗ Limited accuracy (65-75%) and robustness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✗ Sensitive to illumination changes and environmental factors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✗ Frequent manual recalibration limits scalability [7]</a:t>
            </a:r>
          </a:p>
        </p:txBody>
      </p:sp>
    </p:spTree>
    <p:extLst>
      <p:ext uri="{BB962C8B-B14F-4D97-AF65-F5344CB8AC3E}">
        <p14:creationId xmlns:p14="http://schemas.microsoft.com/office/powerpoint/2010/main" val="923065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9EC8F-3891-6187-57FF-FC61CA824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AC9F8C-9A7C-87C5-7E1E-9733D4C7C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4" y="365130"/>
            <a:ext cx="10515600" cy="496517"/>
          </a:xfrm>
        </p:spPr>
        <p:txBody>
          <a:bodyPr anchor="ctr">
            <a:normAutofit/>
          </a:bodyPr>
          <a:lstStyle/>
          <a:p>
            <a:r>
              <a:rPr lang="en-GB" dirty="0"/>
              <a:t>Classical Machine Learning Methods</a:t>
            </a:r>
            <a:endParaRPr lang="de-DE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51C928-2A80-A213-1CC6-59CB559CE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469813"/>
              </p:ext>
            </p:extLst>
          </p:nvPr>
        </p:nvGraphicFramePr>
        <p:xfrm>
          <a:off x="626533" y="2162462"/>
          <a:ext cx="10515602" cy="317899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648482">
                  <a:extLst>
                    <a:ext uri="{9D8B030D-6E8A-4147-A177-3AD203B41FA5}">
                      <a16:colId xmlns:a16="http://schemas.microsoft.com/office/drawing/2014/main" val="3338102536"/>
                    </a:ext>
                  </a:extLst>
                </a:gridCol>
                <a:gridCol w="3252790">
                  <a:extLst>
                    <a:ext uri="{9D8B030D-6E8A-4147-A177-3AD203B41FA5}">
                      <a16:colId xmlns:a16="http://schemas.microsoft.com/office/drawing/2014/main" val="1135220922"/>
                    </a:ext>
                  </a:extLst>
                </a:gridCol>
                <a:gridCol w="3614330">
                  <a:extLst>
                    <a:ext uri="{9D8B030D-6E8A-4147-A177-3AD203B41FA5}">
                      <a16:colId xmlns:a16="http://schemas.microsoft.com/office/drawing/2014/main" val="2922982390"/>
                    </a:ext>
                  </a:extLst>
                </a:gridCol>
              </a:tblGrid>
              <a:tr h="450301">
                <a:tc>
                  <a:txBody>
                    <a:bodyPr/>
                    <a:lstStyle/>
                    <a:p>
                      <a:r>
                        <a:rPr lang="en-GB" sz="20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112430" marR="112430" marT="56215" marB="56215"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>
                          <a:solidFill>
                            <a:srgbClr val="FFFFFF"/>
                          </a:solidFill>
                        </a:rPr>
                        <a:t>Performance Trend</a:t>
                      </a:r>
                    </a:p>
                  </a:txBody>
                  <a:tcPr marL="112430" marR="112430" marT="56215" marB="562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>
                          <a:solidFill>
                            <a:srgbClr val="FFFFFF"/>
                          </a:solidFill>
                        </a:rPr>
                        <a:t>Characteristics</a:t>
                      </a:r>
                    </a:p>
                  </a:txBody>
                  <a:tcPr marL="112430" marR="112430" marT="56215" marB="562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807901"/>
                  </a:ext>
                </a:extLst>
              </a:tr>
              <a:tr h="682173">
                <a:tc>
                  <a:txBody>
                    <a:bodyPr/>
                    <a:lstStyle/>
                    <a:p>
                      <a:r>
                        <a:rPr lang="en-GB" sz="1700">
                          <a:solidFill>
                            <a:srgbClr val="000000"/>
                          </a:solidFill>
                        </a:rPr>
                        <a:t>Support Vector Machines (RBF kernel)</a:t>
                      </a:r>
                    </a:p>
                  </a:txBody>
                  <a:tcPr marL="112430" marR="112430" marT="56215" marB="562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>
                          <a:solidFill>
                            <a:srgbClr val="000000"/>
                          </a:solidFill>
                        </a:rPr>
                        <a:t>Moderate accuracy (80-87%)</a:t>
                      </a:r>
                    </a:p>
                  </a:txBody>
                  <a:tcPr marL="112430" marR="112430" marT="56215" marB="562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dirty="0">
                          <a:solidFill>
                            <a:srgbClr val="000000"/>
                          </a:solidFill>
                        </a:rPr>
                        <a:t>Multi-class defect categorization in powder bed fusion</a:t>
                      </a:r>
                    </a:p>
                  </a:txBody>
                  <a:tcPr marL="112430" marR="112430" marT="56215" marB="562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595072"/>
                  </a:ext>
                </a:extLst>
              </a:tr>
              <a:tr h="682173">
                <a:tc>
                  <a:txBody>
                    <a:bodyPr/>
                    <a:lstStyle/>
                    <a:p>
                      <a:r>
                        <a:rPr lang="en-GB" sz="17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</a:p>
                  </a:txBody>
                  <a:tcPr marL="112430" marR="112430" marT="56215" marB="562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700">
                          <a:solidFill>
                            <a:srgbClr val="000000"/>
                          </a:solidFill>
                        </a:rPr>
                        <a:t>Moderate to high accuracy</a:t>
                      </a:r>
                    </a:p>
                  </a:txBody>
                  <a:tcPr marL="112430" marR="112430" marT="56215" marB="562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dirty="0">
                          <a:solidFill>
                            <a:srgbClr val="000000"/>
                          </a:solidFill>
                        </a:rPr>
                        <a:t>Interpretable feature importance rankings</a:t>
                      </a:r>
                    </a:p>
                  </a:txBody>
                  <a:tcPr marL="112430" marR="112430" marT="56215" marB="562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176372"/>
                  </a:ext>
                </a:extLst>
              </a:tr>
              <a:tr h="682173">
                <a:tc>
                  <a:txBody>
                    <a:bodyPr/>
                    <a:lstStyle/>
                    <a:p>
                      <a:r>
                        <a:rPr lang="en-GB" sz="1700">
                          <a:solidFill>
                            <a:srgbClr val="000000"/>
                          </a:solidFill>
                        </a:rPr>
                        <a:t>Gradient Boosting Machines</a:t>
                      </a:r>
                    </a:p>
                  </a:txBody>
                  <a:tcPr marL="112430" marR="112430" marT="56215" marB="562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>
                          <a:solidFill>
                            <a:srgbClr val="000000"/>
                          </a:solidFill>
                        </a:rPr>
                        <a:t>Effective for non-linear relationships</a:t>
                      </a:r>
                    </a:p>
                  </a:txBody>
                  <a:tcPr marL="112430" marR="112430" marT="56215" marB="562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>
                          <a:solidFill>
                            <a:srgbClr val="000000"/>
                          </a:solidFill>
                        </a:rPr>
                        <a:t>Sensitive to feature engineering and dataset size</a:t>
                      </a:r>
                    </a:p>
                  </a:txBody>
                  <a:tcPr marL="112430" marR="112430" marT="56215" marB="562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287674"/>
                  </a:ext>
                </a:extLst>
              </a:tr>
              <a:tr h="682173">
                <a:tc>
                  <a:txBody>
                    <a:bodyPr/>
                    <a:lstStyle/>
                    <a:p>
                      <a:r>
                        <a:rPr lang="en-GB" sz="1700">
                          <a:solidFill>
                            <a:srgbClr val="000000"/>
                          </a:solidFill>
                        </a:rPr>
                        <a:t>k-Nearest Neighbor</a:t>
                      </a:r>
                    </a:p>
                  </a:txBody>
                  <a:tcPr marL="112430" marR="112430" marT="56215" marB="562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700">
                          <a:solidFill>
                            <a:srgbClr val="000000"/>
                          </a:solidFill>
                        </a:rPr>
                        <a:t>Dependent on feature scaling</a:t>
                      </a:r>
                    </a:p>
                  </a:txBody>
                  <a:tcPr marL="112430" marR="112430" marT="56215" marB="562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dirty="0">
                          <a:solidFill>
                            <a:srgbClr val="000000"/>
                          </a:solidFill>
                        </a:rPr>
                        <a:t>Computationally inefficient for large datasets</a:t>
                      </a:r>
                    </a:p>
                  </a:txBody>
                  <a:tcPr marL="112430" marR="112430" marT="56215" marB="5621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85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369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4BD3A-FED6-2E29-75E5-9BE441A45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11B11-655F-1513-CB19-7BB611AE2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4" y="365129"/>
            <a:ext cx="10515600" cy="432894"/>
          </a:xfrm>
        </p:spPr>
        <p:txBody>
          <a:bodyPr anchor="ctr">
            <a:normAutofit fontScale="90000"/>
          </a:bodyPr>
          <a:lstStyle/>
          <a:p>
            <a:r>
              <a:rPr lang="en-GB" sz="2800" dirty="0"/>
              <a:t>Deep Learning Approaches</a:t>
            </a:r>
            <a:endParaRPr lang="en-DE" sz="240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4730797-9155-5CB8-F3D1-6D1E8D6E6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7063" y="798023"/>
            <a:ext cx="4007999" cy="5276956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000"/>
              </a:spcAft>
              <a:buNone/>
              <a:defRPr sz="1800" b="1">
                <a:solidFill>
                  <a:srgbClr val="000000"/>
                </a:solidFill>
              </a:defRPr>
            </a:pPr>
            <a:r>
              <a:rPr lang="en-GB" sz="1100" dirty="0"/>
              <a:t>Convolutional Neural Networks</a:t>
            </a:r>
          </a:p>
          <a:p>
            <a:pPr marL="0" indent="0">
              <a:spcBef>
                <a:spcPts val="600"/>
              </a:spcBef>
              <a:spcAft>
                <a:spcPts val="1000"/>
              </a:spcAft>
              <a:buNone/>
              <a:defRPr sz="1300" b="0">
                <a:solidFill>
                  <a:srgbClr val="000000"/>
                </a:solidFill>
              </a:defRPr>
            </a:pPr>
            <a:r>
              <a:rPr lang="en-GB" sz="1100" dirty="0"/>
              <a:t>Deep learning dominates image-based defect detection due to automatic hierarchical feature learning from raw images through end-to-end training via backpropagation [6] and eliminates manual feature engineering.</a:t>
            </a:r>
          </a:p>
          <a:p>
            <a:pPr marL="0" indent="0">
              <a:spcBef>
                <a:spcPts val="600"/>
              </a:spcBef>
              <a:spcAft>
                <a:spcPts val="800"/>
              </a:spcAft>
              <a:buNone/>
              <a:defRPr sz="1300" b="0">
                <a:solidFill>
                  <a:srgbClr val="000000"/>
                </a:solidFill>
              </a:defRPr>
            </a:pPr>
            <a:r>
              <a:rPr lang="en-GB" sz="1100" dirty="0"/>
              <a:t>Popular architectures include: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  <a:r>
              <a:rPr lang="en-GB" sz="1100" dirty="0" err="1"/>
              <a:t>ResNet</a:t>
            </a:r>
            <a:r>
              <a:rPr lang="en-GB" sz="1100" dirty="0"/>
              <a:t>: Residual connections enabling 50+ layer networks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 b="0">
                <a:solidFill>
                  <a:srgbClr val="000000"/>
                </a:solidFill>
              </a:defRPr>
            </a:pPr>
            <a:r>
              <a:rPr lang="en-GB" sz="1100" dirty="0"/>
              <a:t>VGG: Sequential convolutional blocks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200" b="0">
                <a:solidFill>
                  <a:srgbClr val="000000"/>
                </a:solidFill>
              </a:defRPr>
            </a:pPr>
            <a:r>
              <a:rPr lang="en-GB" sz="1100" dirty="0" err="1"/>
              <a:t>MobileNet</a:t>
            </a:r>
            <a:r>
              <a:rPr lang="en-GB" sz="1100" dirty="0"/>
              <a:t>: Optimized for resource-constrained hardware [15]</a:t>
            </a:r>
          </a:p>
          <a:p>
            <a:pPr marL="0" indent="0">
              <a:spcBef>
                <a:spcPts val="1000"/>
              </a:spcBef>
              <a:spcAft>
                <a:spcPts val="800"/>
              </a:spcAft>
              <a:buNone/>
              <a:defRPr sz="1600" b="1">
                <a:solidFill>
                  <a:srgbClr val="000000"/>
                </a:solidFill>
              </a:defRPr>
            </a:pPr>
            <a:r>
              <a:rPr lang="en-GB" sz="1100" dirty="0"/>
              <a:t>YOLO Object Detection</a:t>
            </a:r>
          </a:p>
          <a:p>
            <a:pPr marL="0" indent="0">
              <a:spcBef>
                <a:spcPts val="600"/>
              </a:spcBef>
              <a:spcAft>
                <a:spcPts val="800"/>
              </a:spcAft>
              <a:buNone/>
              <a:defRPr sz="1200" b="0">
                <a:solidFill>
                  <a:srgbClr val="000000"/>
                </a:solidFill>
              </a:defRPr>
            </a:pPr>
            <a:r>
              <a:rPr lang="en-GB" sz="1100" dirty="0"/>
              <a:t>YOLOv5 and YOLOv8 demonstrate &gt;96–97% mean average precision at 11–15 fps on GPUs [2].</a:t>
            </a:r>
          </a:p>
          <a:p>
            <a:pPr marL="0" indent="0">
              <a:spcBef>
                <a:spcPts val="600"/>
              </a:spcBef>
              <a:spcAft>
                <a:spcPts val="800"/>
              </a:spcAft>
              <a:buNone/>
              <a:defRPr sz="1200" b="0">
                <a:solidFill>
                  <a:srgbClr val="000000"/>
                </a:solidFill>
              </a:defRPr>
            </a:pPr>
            <a:r>
              <a:rPr lang="en-GB" sz="1100" dirty="0"/>
              <a:t>Single-stage regression: direct bounding box + class prediction</a:t>
            </a:r>
          </a:p>
          <a:p>
            <a:pPr marL="0" indent="0">
              <a:spcBef>
                <a:spcPts val="1000"/>
              </a:spcBef>
              <a:spcAft>
                <a:spcPts val="800"/>
              </a:spcAft>
              <a:buClr>
                <a:srgbClr val="C61A27"/>
              </a:buClr>
              <a:buNone/>
              <a:defRPr sz="1600" b="1">
                <a:solidFill>
                  <a:srgbClr val="000000"/>
                </a:solidFill>
              </a:defRPr>
            </a:pPr>
            <a:r>
              <a:rPr lang="en-GB" sz="1100" dirty="0"/>
              <a:t>Semantic Segmentation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  <a:defRPr sz="1200" b="0">
                <a:solidFill>
                  <a:srgbClr val="000000"/>
                </a:solidFill>
              </a:defRPr>
            </a:pPr>
            <a:r>
              <a:rPr lang="en-GB" sz="1100" dirty="0"/>
              <a:t>U-Net Segmentation: Pixel-level classification achieving 93–95% </a:t>
            </a:r>
            <a:r>
              <a:rPr lang="en-GB" sz="1100" dirty="0" err="1"/>
              <a:t>IoU</a:t>
            </a:r>
            <a:r>
              <a:rPr lang="en-GB" sz="1100" dirty="0"/>
              <a:t> [1]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46912-C511-CFB7-9F47-47346B55D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564" y="1025061"/>
            <a:ext cx="7528193" cy="3809212"/>
          </a:xfrm>
          <a:prstGeom prst="rect">
            <a:avLst/>
          </a:prstGeom>
        </p:spPr>
      </p:pic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9FBE022F-8EC7-A7D5-F29D-C9AD778D5513}"/>
              </a:ext>
            </a:extLst>
          </p:cNvPr>
          <p:cNvSpPr txBox="1">
            <a:spLocks/>
          </p:cNvSpPr>
          <p:nvPr/>
        </p:nvSpPr>
        <p:spPr>
          <a:xfrm>
            <a:off x="4635062" y="4974606"/>
            <a:ext cx="7438695" cy="552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Fig. 4: CNN architecture for AM defect detection showing hierarchical feature extraction from raw images. Adapted from [6]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9771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67438-9881-CDAD-106A-34BE2C2BD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B25970-3165-0F68-BED4-3DC215B82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4" y="365130"/>
            <a:ext cx="10515600" cy="496517"/>
          </a:xfrm>
        </p:spPr>
        <p:txBody>
          <a:bodyPr anchor="ctr">
            <a:normAutofit/>
          </a:bodyPr>
          <a:lstStyle/>
          <a:p>
            <a:r>
              <a:rPr lang="en-GB" dirty="0"/>
              <a:t>Comparative Analysis of AI Methods</a:t>
            </a:r>
            <a:endParaRPr lang="de-DE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7C3EB3-D73E-3668-499B-CBF85CE80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112033"/>
              </p:ext>
            </p:extLst>
          </p:nvPr>
        </p:nvGraphicFramePr>
        <p:xfrm>
          <a:off x="626445" y="2217770"/>
          <a:ext cx="10515512" cy="307238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967323">
                  <a:extLst>
                    <a:ext uri="{9D8B030D-6E8A-4147-A177-3AD203B41FA5}">
                      <a16:colId xmlns:a16="http://schemas.microsoft.com/office/drawing/2014/main" val="3338102536"/>
                    </a:ext>
                  </a:extLst>
                </a:gridCol>
                <a:gridCol w="2870067">
                  <a:extLst>
                    <a:ext uri="{9D8B030D-6E8A-4147-A177-3AD203B41FA5}">
                      <a16:colId xmlns:a16="http://schemas.microsoft.com/office/drawing/2014/main" val="1135220922"/>
                    </a:ext>
                  </a:extLst>
                </a:gridCol>
                <a:gridCol w="1746509">
                  <a:extLst>
                    <a:ext uri="{9D8B030D-6E8A-4147-A177-3AD203B41FA5}">
                      <a16:colId xmlns:a16="http://schemas.microsoft.com/office/drawing/2014/main" val="2922982390"/>
                    </a:ext>
                  </a:extLst>
                </a:gridCol>
                <a:gridCol w="2931613">
                  <a:extLst>
                    <a:ext uri="{9D8B030D-6E8A-4147-A177-3AD203B41FA5}">
                      <a16:colId xmlns:a16="http://schemas.microsoft.com/office/drawing/2014/main" val="2782494516"/>
                    </a:ext>
                  </a:extLst>
                </a:gridCol>
              </a:tblGrid>
              <a:tr h="46956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Typical Accuracy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Relative Speed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Key Limitations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807901"/>
                  </a:ext>
                </a:extLst>
              </a:tr>
              <a:tr h="65070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Traditional Image Processing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</a:rPr>
                        <a:t>Low–moderate accuracy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Very fast (&gt;100 fps)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Illumination sensitivity, manual recalibration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595072"/>
                  </a:ext>
                </a:extLst>
              </a:tr>
              <a:tr h="65070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Classical ML (SVM, RF)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</a:rPr>
                        <a:t>Moderate accuracy 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Moderate (20-50 fps)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Feature engineering, limited generalization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176372"/>
                  </a:ext>
                </a:extLst>
              </a:tr>
              <a:tr h="65070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Deep Learning (CNN)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</a:rPr>
                        <a:t>High accuracy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Moderate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Data requirements, interpretability challenges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287674"/>
                  </a:ext>
                </a:extLst>
              </a:tr>
              <a:tr h="65070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Object Detection (YOLO)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</a:rPr>
                        <a:t>High localization accuracy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1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000000"/>
                          </a:solidFill>
                        </a:rPr>
                        <a:t>Real-time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capable </a:t>
                      </a:r>
                      <a:r>
                        <a:rPr sz="1400" dirty="0">
                          <a:solidFill>
                            <a:srgbClr val="000000"/>
                          </a:solidFill>
                        </a:rPr>
                        <a:t>(11-15 fps)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000000"/>
                          </a:solidFill>
                        </a:rPr>
                        <a:t>Computational cost, domain shift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85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897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624A0-FFAE-59D6-21E0-D9882526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EABDE4B-0ECE-4720-AC07-BA7B8966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Performance Evolution: Traditional → Deep Learning</a:t>
            </a:r>
            <a:br>
              <a:rPr lang="en-GB" dirty="0"/>
            </a:br>
            <a:br>
              <a:rPr lang="en-GB" dirty="0"/>
            </a:b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621DF26-27D0-02BC-40D5-2779132B91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444" y="903890"/>
            <a:ext cx="8476913" cy="51710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000" b="1">
                <a:solidFill>
                  <a:srgbClr val="000000"/>
                </a:solidFill>
              </a:defRPr>
            </a:pPr>
            <a:r>
              <a:rPr lang="en-GB" sz="1400" dirty="0"/>
              <a:t>Accuracy Improvements Across Methods</a:t>
            </a:r>
          </a:p>
          <a:p>
            <a:pPr>
              <a:spcBef>
                <a:spcPts val="800"/>
              </a:spcBef>
              <a:spcAft>
                <a:spcPts val="1500"/>
              </a:spcAft>
              <a:defRPr sz="1500" b="0">
                <a:solidFill>
                  <a:srgbClr val="000000"/>
                </a:solidFill>
              </a:defRPr>
            </a:pPr>
            <a:r>
              <a:rPr lang="en-GB" sz="1400" dirty="0"/>
              <a:t>Deep learning achieves the highest accuracy (92–97%) and robustness, representing 10–15 percentage point improvements over classical ML and 20–30 points over traditional methods [2].</a:t>
            </a:r>
          </a:p>
          <a:p>
            <a:pPr>
              <a:spcBef>
                <a:spcPts val="1500"/>
              </a:spcBef>
              <a:spcAft>
                <a:spcPts val="1000"/>
              </a:spcAft>
              <a:defRPr sz="1800" b="1">
                <a:solidFill>
                  <a:srgbClr val="000000"/>
                </a:solidFill>
              </a:defRPr>
            </a:pPr>
            <a:r>
              <a:rPr lang="en-GB" sz="1400" dirty="0"/>
              <a:t>Key Performance Metrics: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• Traditional Image Processing: 65-75% accuracy, &gt;100 fps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• Classical ML (SVM, RF): 80-87% accuracy, 20-50 fps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• Deep Learning (CNN): 92-97% accuracy, moderate speed</a:t>
            </a:r>
          </a:p>
          <a:p>
            <a:pPr>
              <a:spcBef>
                <a:spcPts val="800"/>
              </a:spcBef>
              <a:spcAft>
                <a:spcPts val="15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• YOLO Object Detection: &gt;90% mAP@0.5, 11-15 fps real-time</a:t>
            </a:r>
          </a:p>
          <a:p>
            <a:pPr>
              <a:spcBef>
                <a:spcPts val="1500"/>
              </a:spcBef>
              <a:spcAft>
                <a:spcPts val="1000"/>
              </a:spcAft>
              <a:defRPr sz="1800" b="1">
                <a:solidFill>
                  <a:srgbClr val="000000"/>
                </a:solidFill>
              </a:defRPr>
            </a:pPr>
            <a:r>
              <a:rPr lang="en-GB" sz="1400" dirty="0"/>
              <a:t>Transfer Learning Impact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Transfer learning from ImageNet reduces data requirements by 10–50× and accelerates convergence, enabling strong performance with datasets containing hundreds rather than thousands of examples [3].</a:t>
            </a:r>
          </a:p>
        </p:txBody>
      </p:sp>
    </p:spTree>
    <p:extLst>
      <p:ext uri="{BB962C8B-B14F-4D97-AF65-F5344CB8AC3E}">
        <p14:creationId xmlns:p14="http://schemas.microsoft.com/office/powerpoint/2010/main" val="1155357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9FFD8-7278-20A4-F6FD-BE6E73EF8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221B16-D7BE-23A8-DE4B-3E643AE06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4" y="365130"/>
            <a:ext cx="10515600" cy="496517"/>
          </a:xfrm>
        </p:spPr>
        <p:txBody>
          <a:bodyPr anchor="ctr">
            <a:normAutofit/>
          </a:bodyPr>
          <a:lstStyle/>
          <a:p>
            <a:r>
              <a:rPr lang="en-GB" dirty="0"/>
              <a:t>Case Studies and Performance Results</a:t>
            </a:r>
            <a:endParaRPr lang="de-DE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B32613-5340-3885-4EFD-BA840D413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971916"/>
              </p:ext>
            </p:extLst>
          </p:nvPr>
        </p:nvGraphicFramePr>
        <p:xfrm>
          <a:off x="913276" y="1512667"/>
          <a:ext cx="9941939" cy="4101441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693290">
                  <a:extLst>
                    <a:ext uri="{9D8B030D-6E8A-4147-A177-3AD203B41FA5}">
                      <a16:colId xmlns:a16="http://schemas.microsoft.com/office/drawing/2014/main" val="3338102536"/>
                    </a:ext>
                  </a:extLst>
                </a:gridCol>
                <a:gridCol w="1681655">
                  <a:extLst>
                    <a:ext uri="{9D8B030D-6E8A-4147-A177-3AD203B41FA5}">
                      <a16:colId xmlns:a16="http://schemas.microsoft.com/office/drawing/2014/main" val="1135220922"/>
                    </a:ext>
                  </a:extLst>
                </a:gridCol>
                <a:gridCol w="1566041">
                  <a:extLst>
                    <a:ext uri="{9D8B030D-6E8A-4147-A177-3AD203B41FA5}">
                      <a16:colId xmlns:a16="http://schemas.microsoft.com/office/drawing/2014/main" val="2922982390"/>
                    </a:ext>
                  </a:extLst>
                </a:gridCol>
                <a:gridCol w="1818290">
                  <a:extLst>
                    <a:ext uri="{9D8B030D-6E8A-4147-A177-3AD203B41FA5}">
                      <a16:colId xmlns:a16="http://schemas.microsoft.com/office/drawing/2014/main" val="2782494516"/>
                    </a:ext>
                  </a:extLst>
                </a:gridCol>
                <a:gridCol w="3182663">
                  <a:extLst>
                    <a:ext uri="{9D8B030D-6E8A-4147-A177-3AD203B41FA5}">
                      <a16:colId xmlns:a16="http://schemas.microsoft.com/office/drawing/2014/main" val="53187785"/>
                    </a:ext>
                  </a:extLst>
                </a:gridCol>
              </a:tblGrid>
              <a:tr h="67102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Study</a:t>
                      </a:r>
                    </a:p>
                    <a:p>
                      <a:endParaRPr lang="en-GB" sz="1500" b="0" cap="none" spc="60">
                        <a:solidFill>
                          <a:schemeClr val="bg1"/>
                        </a:solidFill>
                      </a:endParaRPr>
                    </a:p>
                  </a:txBody>
                  <a:tcPr marL="123340" marR="138146" marT="84873" marB="94877" anchor="ctr"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Dataset Size</a:t>
                      </a:r>
                    </a:p>
                  </a:txBody>
                  <a:tcPr marL="123340" marR="138146" marT="84873" marB="94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Imaging</a:t>
                      </a:r>
                    </a:p>
                    <a:p>
                      <a:r>
                        <a:rPr lang="en-GB" sz="15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Modality</a:t>
                      </a:r>
                    </a:p>
                  </a:txBody>
                  <a:tcPr marL="123340" marR="138146" marT="84873" marB="94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</a:t>
                      </a:r>
                    </a:p>
                  </a:txBody>
                  <a:tcPr marL="123340" marR="138146" marT="84873" marB="94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1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 Metrics</a:t>
                      </a:r>
                    </a:p>
                  </a:txBody>
                  <a:tcPr marL="123340" marR="138146" marT="84873" marB="948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807901"/>
                  </a:ext>
                </a:extLst>
              </a:tr>
              <a:tr h="630757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rgbClr val="000000"/>
                          </a:solidFill>
                        </a:rPr>
                        <a:t>Wang et al. [2]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&gt;3,500 annotated instances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RGB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00" dirty="0">
                        <a:solidFill>
                          <a:srgbClr val="000000"/>
                        </a:solidFill>
                      </a:endParaRP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YOLOv8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mAP@0.5 &gt;90%, </a:t>
                      </a:r>
                      <a:r>
                        <a:rPr lang="en-GB" sz="1300" dirty="0" err="1">
                          <a:solidFill>
                            <a:srgbClr val="000000"/>
                          </a:solidFill>
                        </a:rPr>
                        <a:t>mAP</a:t>
                      </a:r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 &gt;97% </a:t>
                      </a:r>
                      <a:r>
                        <a:rPr lang="en-GB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 defect categories)</a:t>
                      </a:r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, ~15 fps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595072"/>
                  </a:ext>
                </a:extLst>
              </a:tr>
              <a:tr h="519841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rgbClr val="000000"/>
                          </a:solidFill>
                        </a:rPr>
                        <a:t>Baumgartl et al. [9]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specified 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Thermal IR (off-axis)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Deep learning classifier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Real-time defect ID with k-fold cross-validation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00" dirty="0">
                        <a:solidFill>
                          <a:srgbClr val="000000"/>
                        </a:solidFill>
                      </a:endParaRP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176372"/>
                  </a:ext>
                </a:extLst>
              </a:tr>
              <a:tr h="719780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rgbClr val="000000"/>
                          </a:solidFill>
                        </a:rPr>
                        <a:t>Jia et al. [3]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rgbClr val="000000"/>
                          </a:solidFill>
                        </a:rPr>
                        <a:t>Hundreds of images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RGB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00" dirty="0">
                        <a:solidFill>
                          <a:srgbClr val="000000"/>
                        </a:solidFill>
                      </a:endParaRP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Transfer learning (</a:t>
                      </a:r>
                      <a:r>
                        <a:rPr lang="en-GB" sz="1300" dirty="0" err="1">
                          <a:solidFill>
                            <a:srgbClr val="000000"/>
                          </a:solidFill>
                        </a:rPr>
                        <a:t>ResNet</a:t>
                      </a:r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, VGG)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Improved performance over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training from scratch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00" dirty="0">
                        <a:solidFill>
                          <a:srgbClr val="000000"/>
                        </a:solidFill>
                      </a:endParaRP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287674"/>
                  </a:ext>
                </a:extLst>
              </a:tr>
              <a:tr h="719780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rgbClr val="000000"/>
                          </a:solidFill>
                        </a:rPr>
                        <a:t>Smoqi et al. [11]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rgbClr val="000000"/>
                          </a:solidFill>
                        </a:rPr>
                        <a:t>Process-specific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Thermal/melt-pool images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Physics-informed ML + CNN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F1 &gt;0.95 (physics features), 0.89–0.97 (CNN)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00" dirty="0">
                        <a:solidFill>
                          <a:srgbClr val="000000"/>
                        </a:solidFill>
                      </a:endParaRP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85739"/>
                  </a:ext>
                </a:extLst>
              </a:tr>
              <a:tr h="519841">
                <a:tc>
                  <a:txBody>
                    <a:bodyPr/>
                    <a:lstStyle/>
                    <a:p>
                      <a:r>
                        <a:rPr lang="en-GB" sz="1300">
                          <a:solidFill>
                            <a:srgbClr val="000000"/>
                          </a:solidFill>
                        </a:rPr>
                        <a:t>Yang et al. [10]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CFD simulation + experimental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00" dirty="0">
                        <a:solidFill>
                          <a:srgbClr val="000000"/>
                        </a:solidFill>
                      </a:endParaRP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Thermal imaging (&gt;100 Hz)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00" dirty="0">
                        <a:solidFill>
                          <a:srgbClr val="000000"/>
                        </a:solidFill>
                      </a:endParaRP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Hybrid neural network</a:t>
                      </a: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Performance exceeded either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dirty="0">
                          <a:solidFill>
                            <a:srgbClr val="000000"/>
                          </a:solidFill>
                        </a:rPr>
                        <a:t>data source alone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00" dirty="0">
                        <a:solidFill>
                          <a:srgbClr val="000000"/>
                        </a:solidFill>
                      </a:endParaRPr>
                    </a:p>
                  </a:txBody>
                  <a:tcPr marL="85688" marR="85688" marT="42844" marB="4284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105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294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7D760-1E30-8A27-639A-4B47E9F6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1BCA2D9-6315-D47D-70DC-C089096E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Case Study: YOLOv8 for Real-Time Detection</a:t>
            </a:r>
            <a:br>
              <a:rPr lang="en-GB" dirty="0"/>
            </a:br>
            <a:br>
              <a:rPr lang="en-GB" dirty="0"/>
            </a:b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0ED826A-78B5-E8D8-2A15-13FD76E7CF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444" y="903890"/>
            <a:ext cx="8476913" cy="51710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000" b="1">
                <a:solidFill>
                  <a:srgbClr val="000000"/>
                </a:solidFill>
              </a:defRPr>
            </a:pPr>
            <a:r>
              <a:rPr lang="en-GB" sz="1400" dirty="0"/>
              <a:t>Study Overview [2]</a:t>
            </a:r>
          </a:p>
          <a:p>
            <a:pPr>
              <a:spcBef>
                <a:spcPts val="800"/>
              </a:spcBef>
              <a:spcAft>
                <a:spcPts val="1500"/>
              </a:spcAft>
              <a:defRPr sz="1500" b="0">
                <a:solidFill>
                  <a:srgbClr val="000000"/>
                </a:solidFill>
              </a:defRPr>
            </a:pPr>
            <a:r>
              <a:rPr lang="en-GB" sz="1400" dirty="0"/>
              <a:t>Wang et al. demonstrated an improved YOLOv8-based detector trained on &gt;3,500 annotated instances across four defect categories, achieving &gt;97% </a:t>
            </a:r>
            <a:r>
              <a:rPr lang="en-GB" sz="1400" dirty="0" err="1"/>
              <a:t>mAP</a:t>
            </a:r>
            <a:r>
              <a:rPr lang="en-GB" sz="1400" dirty="0"/>
              <a:t> at approximately 15 fps, demonstrating practical feasibility for continuous monitoring [2].</a:t>
            </a:r>
          </a:p>
          <a:p>
            <a:pPr>
              <a:spcBef>
                <a:spcPts val="1500"/>
              </a:spcBef>
              <a:spcAft>
                <a:spcPts val="1000"/>
              </a:spcAft>
              <a:defRPr sz="1800" b="1">
                <a:solidFill>
                  <a:srgbClr val="000000"/>
                </a:solidFill>
              </a:defRPr>
            </a:pPr>
            <a:r>
              <a:rPr lang="en-GB" sz="1400" dirty="0"/>
              <a:t>Key Innovations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• Real-time defect detection strategy based on deep learning and machine vision technologies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• Simultaneous localization and classification during build processes</a:t>
            </a:r>
          </a:p>
          <a:p>
            <a:pPr>
              <a:spcBef>
                <a:spcPts val="800"/>
              </a:spcBef>
              <a:spcAft>
                <a:spcPts val="15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• Provides defect category labels and spatial coordinates</a:t>
            </a:r>
          </a:p>
          <a:p>
            <a:pPr>
              <a:spcBef>
                <a:spcPts val="1500"/>
              </a:spcBef>
              <a:spcAft>
                <a:spcPts val="1000"/>
              </a:spcAft>
              <a:defRPr sz="1800" b="1">
                <a:solidFill>
                  <a:srgbClr val="000000"/>
                </a:solidFill>
              </a:defRPr>
            </a:pPr>
            <a:r>
              <a:rPr lang="en-GB" sz="1400" dirty="0"/>
              <a:t>Performance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• mAP@0.5: &gt;90% (mean Average Precision at 0.5 </a:t>
            </a:r>
            <a:r>
              <a:rPr lang="en-GB" sz="1400" dirty="0" err="1"/>
              <a:t>IoU</a:t>
            </a:r>
            <a:r>
              <a:rPr lang="en-GB" sz="1400" dirty="0"/>
              <a:t> threshold)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• Overall </a:t>
            </a:r>
            <a:r>
              <a:rPr lang="en-GB" sz="1400" dirty="0" err="1"/>
              <a:t>mAP</a:t>
            </a:r>
            <a:r>
              <a:rPr lang="en-GB" sz="1400" dirty="0"/>
              <a:t>: &gt;97% across four defect categories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 b="0">
                <a:solidFill>
                  <a:srgbClr val="000000"/>
                </a:solidFill>
              </a:defRPr>
            </a:pPr>
            <a:r>
              <a:rPr lang="en-GB" sz="1400" dirty="0"/>
              <a:t>• Processing speed: ~15 frames per second on GPU hardware</a:t>
            </a:r>
          </a:p>
        </p:txBody>
      </p:sp>
    </p:spTree>
    <p:extLst>
      <p:ext uri="{BB962C8B-B14F-4D97-AF65-F5344CB8AC3E}">
        <p14:creationId xmlns:p14="http://schemas.microsoft.com/office/powerpoint/2010/main" val="2064367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5857E-7DE6-7FEB-50B2-3663599B4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C301A30-D548-9CF0-AC61-605BC0905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Strengths and Weaknesses Analysis</a:t>
            </a:r>
            <a:br>
              <a:rPr lang="en-GB" dirty="0"/>
            </a:br>
            <a:br>
              <a:rPr lang="en-GB" dirty="0"/>
            </a:b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0925427-FB8E-64E8-C57C-00400EB462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444" y="1008993"/>
            <a:ext cx="11082080" cy="50764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1800" b="1">
                <a:solidFill>
                  <a:srgbClr val="000000"/>
                </a:solidFill>
              </a:defRPr>
            </a:pPr>
            <a:r>
              <a:rPr lang="en-GB" sz="1400" dirty="0"/>
              <a:t>Key Strengths of Deep Learning Methods [1,2,6]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• High classification accuracy (92-97%) when CNNs and object detection models are trained on well-curated datasets [2]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• Deep learning models applied to camera/thermographic data show strong performance identifying porosity, surface irregularities, and melt pool anomalies, often outperforming traditional techniques by 20–30 percentage points in accuracy [6]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• Automatic feature extraction from raw images without extensive manual engineering, particularly advantageous where defect patterns are complex and process-dependent [1]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• Multi-scale convolutional architectures capture both local defect features and global process variations [6]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• Real-time detection demonstrated in controlled settings [2]</a:t>
            </a:r>
          </a:p>
          <a:p>
            <a:pPr>
              <a:spcBef>
                <a:spcPts val="1200"/>
              </a:spcBef>
              <a:spcAft>
                <a:spcPts val="1000"/>
              </a:spcAft>
              <a:defRPr sz="1800" b="1">
                <a:solidFill>
                  <a:srgbClr val="000000"/>
                </a:solidFill>
              </a:defRPr>
            </a:pPr>
            <a:r>
              <a:rPr lang="en-GB" sz="1400" dirty="0"/>
              <a:t>Critical Weaknesses [3,5,7,10]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• Strong dependence on dataset size, quality, and representativeness. Insufficient training data or datasets not adequately sampling defect types lead to poor generalization [3]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• Limited transferability across machines, materials, and sensing setups (domain shift). Variations significantly alter defect appearance, degrading classification accuracy [7,10]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• Black-box nature with millions of learned parameters challenges debugging, regulatory validation, and industrial acceptance [5]</a:t>
            </a:r>
          </a:p>
        </p:txBody>
      </p:sp>
    </p:spTree>
    <p:extLst>
      <p:ext uri="{BB962C8B-B14F-4D97-AF65-F5344CB8AC3E}">
        <p14:creationId xmlns:p14="http://schemas.microsoft.com/office/powerpoint/2010/main" val="3320465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0F934-1AAF-DD7B-12EA-11B958EDE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A231D2D-E893-ACA5-1708-0E49FDBF3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Challenges and Future Research Directions</a:t>
            </a:r>
            <a:br>
              <a:rPr lang="en-GB" dirty="0"/>
            </a:br>
            <a:br>
              <a:rPr lang="en-GB" dirty="0"/>
            </a:b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7E81EDA-31BF-DA66-9D3E-DCFC5579AC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444" y="1019504"/>
            <a:ext cx="11082080" cy="5108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1800" b="1">
                <a:solidFill>
                  <a:srgbClr val="000000"/>
                </a:solidFill>
              </a:defRPr>
            </a:pPr>
            <a:r>
              <a:rPr lang="en-GB" sz="1400" dirty="0"/>
              <a:t>Critical Challenges Limiting Industrial Implementation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1. Dataset Availability: Scarcity of large-scale, publicly available, well-annotated defect image datasets. Manual annotation is labour-intensive and requires expert knowledge for accurate ground-truth labels [1,12]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2. Domain Shift &amp; Generalization: Variations in camera hardware, illumination, imaging geometry, material properties, and process parameters substantially alter visual defect appearance, causing trained models to exhibit degraded performance on different equipment/materials [7]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3. Real-Time Processing Requirements: Real-time in-situ monitoring requires inference speeds compatible with high-frequency image acquisition during AM processes. Deployment on resource-constrained embedded or edge platforms remains challenging [2]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4. Interpretability &amp; Explainability: Current deep learning models operate largely as black boxes, making it difficult to understand which image features drive classifications, critical for safety-critical applications in aerospace and medical device manufacturing [5]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 b="1">
                <a:solidFill>
                  <a:srgbClr val="000000"/>
                </a:solidFill>
              </a:defRPr>
            </a:pPr>
            <a:r>
              <a:rPr lang="en-GB" sz="1400" dirty="0"/>
              <a:t>Future Research Priorities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• Standardized benchmark datasets and evaluation protocols [1]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• Domain adaptation methodologies and transfer learning strategies [3,7]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• Physics-informed neural networks for improved interpretability [11]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400" dirty="0"/>
              <a:t>• Integration with closed-loop process control architectures [2]</a:t>
            </a:r>
          </a:p>
        </p:txBody>
      </p:sp>
    </p:spTree>
    <p:extLst>
      <p:ext uri="{BB962C8B-B14F-4D97-AF65-F5344CB8AC3E}">
        <p14:creationId xmlns:p14="http://schemas.microsoft.com/office/powerpoint/2010/main" val="616626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A8F69-F46C-862F-C9E1-D60FCECB4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60A19E1-E0E8-4BFD-EDC1-E66937DA0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Future Research Priorities: Timeline</a:t>
            </a:r>
            <a:br>
              <a:rPr lang="en-GB" dirty="0"/>
            </a:br>
            <a:br>
              <a:rPr lang="en-GB" dirty="0"/>
            </a:b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BADDF6C-804E-E2F5-1857-DF3EB2CB55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444" y="1040526"/>
            <a:ext cx="11082080" cy="49713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1800" b="1">
                <a:solidFill>
                  <a:srgbClr val="000000"/>
                </a:solidFill>
              </a:defRPr>
            </a:pPr>
            <a:r>
              <a:rPr lang="en-GB" sz="1200" dirty="0"/>
              <a:t>Short-term Priorities (1–2 years)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200" dirty="0"/>
              <a:t>• Establishing standardized benchmark datasets and evaluation protocols enabling systematic method comparison across diverse AM processes, materials, and defect types [1]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200" dirty="0"/>
              <a:t>• Developing publicly accessible datasets with comprehensive annotations covering multiple imaging modalities and process conditions [3]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200" dirty="0"/>
              <a:t>• Lightweight model architectures optimized for edge deployment [2]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 b="1">
                <a:solidFill>
                  <a:srgbClr val="000000"/>
                </a:solidFill>
              </a:defRPr>
            </a:pPr>
            <a:r>
              <a:rPr lang="en-GB" sz="1200" dirty="0"/>
              <a:t>Medium-term Directions (2–5 years)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200" dirty="0"/>
              <a:t>• Integrating AI-based detection with closed-loop process control architectures, enabling automated corrective actions [2]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200" dirty="0"/>
              <a:t>• Self-supervised learning approaches leveraging large volumes of unlabelled image data generated during normal manufacturing operations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200" dirty="0"/>
              <a:t>• Multi-modal sensor fusion strategies combining visual imaging with thermal, acoustic, or complementary sensing modalities [9]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 b="1">
                <a:solidFill>
                  <a:srgbClr val="000000"/>
                </a:solidFill>
              </a:defRPr>
            </a:pPr>
            <a:r>
              <a:rPr lang="en-GB" sz="1200" dirty="0"/>
              <a:t>Long-term Priorities (&gt;5 years)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200" dirty="0"/>
              <a:t>• Physics-informed neural network architectures integrating fundamental understanding of heat transfer, fluid dynamics, and solidification phenomena [11]</a:t>
            </a:r>
          </a:p>
          <a:p>
            <a:pPr>
              <a:spcBef>
                <a:spcPts val="800"/>
              </a:spcBef>
              <a:spcAft>
                <a:spcPts val="700"/>
              </a:spcAft>
              <a:defRPr sz="1300" b="0">
                <a:solidFill>
                  <a:srgbClr val="000000"/>
                </a:solidFill>
              </a:defRPr>
            </a:pPr>
            <a:r>
              <a:rPr lang="en-GB" sz="1200" dirty="0"/>
              <a:t>• Fully autonomous quality assurance frameworks integrating defect detection with predictive process modelling and adaptive control</a:t>
            </a:r>
          </a:p>
        </p:txBody>
      </p:sp>
    </p:spTree>
    <p:extLst>
      <p:ext uri="{BB962C8B-B14F-4D97-AF65-F5344CB8AC3E}">
        <p14:creationId xmlns:p14="http://schemas.microsoft.com/office/powerpoint/2010/main" val="4074389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F94F4-8C64-CCA8-C5BF-79CF02F68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8F17B96-DEF4-E0BB-2A7F-13CF48BFE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Conclusion</a:t>
            </a:r>
            <a:br>
              <a:rPr lang="en-GB" dirty="0"/>
            </a:br>
            <a:br>
              <a:rPr lang="en-GB" dirty="0"/>
            </a:b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16130B5-B0D2-AC87-AF3D-54553B7966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444" y="1030014"/>
            <a:ext cx="11082080" cy="50344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000" b="1">
                <a:solidFill>
                  <a:srgbClr val="000000"/>
                </a:solidFill>
              </a:defRPr>
            </a:pPr>
            <a:r>
              <a:rPr lang="en-GB" sz="1400" dirty="0"/>
              <a:t>Key Findings from Systematic Review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500" b="0">
                <a:solidFill>
                  <a:srgbClr val="000000"/>
                </a:solidFill>
              </a:defRPr>
            </a:pPr>
            <a:r>
              <a:rPr lang="en-GB" sz="1400" dirty="0"/>
              <a:t>Deep learning approaches, particularly convolutional neural networks (CNNs) and YOLO-based object detection models, consistently outperform traditional and classical methods in defect classification and localization tasks under controlled experimental conditions [1,2].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500" b="0">
                <a:solidFill>
                  <a:srgbClr val="000000"/>
                </a:solidFill>
              </a:defRPr>
            </a:pPr>
            <a:r>
              <a:rPr lang="en-GB" sz="1400" dirty="0"/>
              <a:t>Real-time object detection frameworks, particularly YOLO-based architectures, emerged as the most promising for industrial deployment. Single-stage detectors achieve &gt;90% </a:t>
            </a:r>
            <a:r>
              <a:rPr lang="en-GB" sz="1400" dirty="0" err="1"/>
              <a:t>mAP</a:t>
            </a:r>
            <a:r>
              <a:rPr lang="en-GB" sz="1400" dirty="0"/>
              <a:t> while maintaining inference speeds compatible with in-situ monitoring [2].</a:t>
            </a:r>
          </a:p>
          <a:p>
            <a:pPr>
              <a:spcBef>
                <a:spcPts val="800"/>
              </a:spcBef>
              <a:spcAft>
                <a:spcPts val="1500"/>
              </a:spcAft>
              <a:defRPr sz="1500" b="0">
                <a:solidFill>
                  <a:srgbClr val="000000"/>
                </a:solidFill>
              </a:defRPr>
            </a:pPr>
            <a:r>
              <a:rPr lang="en-GB" sz="1400" dirty="0"/>
              <a:t>Transfer learning strategies significantly reduce labelled data requirements, allowing strong performance even with domain-specific datasets limited to hundreds of annotated examples, reducing data collection burdens by factors of 10–50 [3].</a:t>
            </a:r>
          </a:p>
          <a:p>
            <a:pPr>
              <a:spcBef>
                <a:spcPts val="1500"/>
              </a:spcBef>
              <a:spcAft>
                <a:spcPts val="1200"/>
              </a:spcAft>
              <a:defRPr sz="2000" b="1">
                <a:solidFill>
                  <a:srgbClr val="000000"/>
                </a:solidFill>
              </a:defRPr>
            </a:pPr>
            <a:r>
              <a:rPr lang="en-GB" sz="1400" dirty="0"/>
              <a:t>Remaining Challenges for Industrial Deployment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500" b="0">
                <a:solidFill>
                  <a:srgbClr val="000000"/>
                </a:solidFill>
              </a:defRPr>
            </a:pPr>
            <a:r>
              <a:rPr lang="en-GB" sz="1400" dirty="0"/>
              <a:t>Despite significant progress, challenges including limited availability of annotated datasets, domain shift across machines and materials, limited interpretability, and integration complexity continue to constrain industrial deployment.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500" b="0">
                <a:solidFill>
                  <a:srgbClr val="000000"/>
                </a:solidFill>
              </a:defRPr>
            </a:pPr>
            <a:r>
              <a:rPr lang="en-GB" sz="1400" dirty="0"/>
              <a:t>This review identifies key research gaps and outlines directions for advancing AI-driven defect detection to improve quality assurance and support wider industrial adoption of additive manufacturing.</a:t>
            </a:r>
          </a:p>
        </p:txBody>
      </p:sp>
    </p:spTree>
    <p:extLst>
      <p:ext uri="{BB962C8B-B14F-4D97-AF65-F5344CB8AC3E}">
        <p14:creationId xmlns:p14="http://schemas.microsoft.com/office/powerpoint/2010/main" val="2602115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FC9C8-AB4B-FAE6-8AFE-0778E5037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BA1F1FC-9C66-3178-24A4-B6489AE4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References</a:t>
            </a:r>
            <a:br>
              <a:rPr lang="en-GB" dirty="0"/>
            </a:br>
            <a:br>
              <a:rPr lang="en-GB" dirty="0"/>
            </a:b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856D966-763A-4468-58BE-183726A55E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6444" y="1040524"/>
            <a:ext cx="11082080" cy="503445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050" kern="100" dirty="0">
                <a:effectLst/>
                <a:latin typeface="Open Sans" panose="020B0606030504020204" pitchFamily="34" charset="0"/>
              </a:rPr>
              <a:t>Deshpande, S., Venugopal, V., Kumar, M., Anand, S.: Deep learning-based image segmentation for defect detection in additive manufacturing: an overview. International Journal of Advanced Manufacturing Technology 134, 2081–2105 (2024).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2"/>
              </a:rPr>
              <a:t>https://</a:t>
            </a:r>
            <a:r>
              <a:rPr lang="en-GB" sz="1050" kern="100" dirty="0" err="1">
                <a:effectLst/>
                <a:latin typeface="Open Sans" panose="020B0606030504020204" pitchFamily="34" charset="0"/>
                <a:hlinkClick r:id="rId2"/>
              </a:rPr>
              <a:t>doi.org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2"/>
              </a:rPr>
              <a:t>/10.1007/s00170-024-14191-6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de-DE" sz="1050" kern="100" dirty="0">
                <a:effectLst/>
                <a:latin typeface="Open Sans" panose="020B0606030504020204" pitchFamily="34" charset="0"/>
              </a:rPr>
              <a:t>Wang, W., Wang, P., Zhang, H., Chen, X., Wang, G., Lu, Y., Chen, M., Liu, H., Li,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J.: A Real-Time Defect Detection Strategy for Additive Manufacturing Processes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Based on Deep Learning and Machine Vision Technologies. Micromachines 15(1),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28 (2024). 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3"/>
              </a:rPr>
              <a:t>https://</a:t>
            </a:r>
            <a:r>
              <a:rPr lang="en-GB" sz="1050" kern="100" dirty="0" err="1">
                <a:effectLst/>
                <a:latin typeface="Open Sans" panose="020B0606030504020204" pitchFamily="34" charset="0"/>
                <a:hlinkClick r:id="rId3"/>
              </a:rPr>
              <a:t>doi.org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3"/>
              </a:rPr>
              <a:t>/10.3390/mi15010028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050" kern="100" dirty="0">
                <a:effectLst/>
                <a:latin typeface="Open Sans" panose="020B0606030504020204" pitchFamily="34" charset="0"/>
              </a:rPr>
              <a:t>Jia, X., Li, S., Wang, T., Liu, B., Cui, C., Li, W., Wang, G.: High-Performance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Defect Detection Methods for Real-Time Monitoring of Ceramic Additive Manufacturing Process Based on Small-Scale Datasets. Processes 12(4), 633 (2024).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4"/>
              </a:rPr>
              <a:t>https://</a:t>
            </a:r>
            <a:r>
              <a:rPr lang="en-GB" sz="1050" kern="100" dirty="0" err="1">
                <a:effectLst/>
                <a:latin typeface="Open Sans" panose="020B0606030504020204" pitchFamily="34" charset="0"/>
                <a:hlinkClick r:id="rId4"/>
              </a:rPr>
              <a:t>doi.org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4"/>
              </a:rPr>
              <a:t>/10.3390/pr12040633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050" kern="100" dirty="0">
                <a:effectLst/>
                <a:latin typeface="Open Sans" panose="020B0606030504020204" pitchFamily="34" charset="0"/>
              </a:rPr>
              <a:t>Frazier, W.E.: Metal Additive Manufacturing: A Review. Journal of Materials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Engineering and Performance 23, 1917–1928 (2014). 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5"/>
              </a:rPr>
              <a:t>https://</a:t>
            </a:r>
            <a:r>
              <a:rPr lang="en-GB" sz="1050" kern="100" dirty="0" err="1">
                <a:effectLst/>
                <a:latin typeface="Open Sans" panose="020B0606030504020204" pitchFamily="34" charset="0"/>
                <a:hlinkClick r:id="rId5"/>
              </a:rPr>
              <a:t>doi.org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5"/>
              </a:rPr>
              <a:t>/10.1007/s11665-014-0958-z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050" kern="100" dirty="0">
                <a:effectLst/>
                <a:latin typeface="Open Sans" panose="020B0606030504020204" pitchFamily="34" charset="0"/>
              </a:rPr>
              <a:t>Grasso, M., Colosimo, B.M.: Process defects and in situ monitoring methods in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metal powder bed fusion: a review. Measurement Science and Technology 28(4),044005 (2017). 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6"/>
              </a:rPr>
              <a:t>https://</a:t>
            </a:r>
            <a:r>
              <a:rPr lang="en-GB" sz="1050" kern="100" dirty="0" err="1">
                <a:effectLst/>
                <a:latin typeface="Open Sans" panose="020B0606030504020204" pitchFamily="34" charset="0"/>
                <a:hlinkClick r:id="rId6"/>
              </a:rPr>
              <a:t>doi.org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6"/>
              </a:rPr>
              <a:t>/10.1088/1361-6501/aa5c4f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050" kern="100" dirty="0" err="1">
                <a:effectLst/>
                <a:latin typeface="Open Sans" panose="020B0606030504020204" pitchFamily="34" charset="0"/>
              </a:rPr>
              <a:t>Scime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, L., </a:t>
            </a:r>
            <a:r>
              <a:rPr lang="en-GB" sz="1050" kern="100" dirty="0" err="1">
                <a:effectLst/>
                <a:latin typeface="Open Sans" panose="020B0606030504020204" pitchFamily="34" charset="0"/>
              </a:rPr>
              <a:t>Beuth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, J.: A multi-scale convolutional neural network for autonomous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anomaly detection and classification in a laser powder bed fusion additive manufacturing process. Additive Manufacturing 24, 273–286 (2018). 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7"/>
              </a:rPr>
              <a:t>https://</a:t>
            </a:r>
            <a:r>
              <a:rPr lang="en-GB" sz="1050" kern="100" dirty="0" err="1">
                <a:effectLst/>
                <a:latin typeface="Open Sans" panose="020B0606030504020204" pitchFamily="34" charset="0"/>
                <a:hlinkClick r:id="rId7"/>
              </a:rPr>
              <a:t>doi.org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7"/>
              </a:rPr>
              <a:t>/10.1016/j.addma.2018.09.034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050" kern="100" dirty="0">
                <a:effectLst/>
                <a:latin typeface="Open Sans" panose="020B0606030504020204" pitchFamily="34" charset="0"/>
              </a:rPr>
              <a:t>Everton, S.K., Hirsch, M., </a:t>
            </a:r>
            <a:r>
              <a:rPr lang="en-GB" sz="1050" kern="100" dirty="0" err="1">
                <a:effectLst/>
                <a:latin typeface="Open Sans" panose="020B0606030504020204" pitchFamily="34" charset="0"/>
              </a:rPr>
              <a:t>Stavroulakis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, P., Leach, R.K., Clare, A.T.: Review of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in-situ process monitoring and in-situ metrology for metal additive manufacturing.Materials&amp;Design95,431–445(2016). 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8"/>
              </a:rPr>
              <a:t>https://</a:t>
            </a:r>
            <a:r>
              <a:rPr lang="en-GB" sz="1050" kern="100" dirty="0" err="1">
                <a:effectLst/>
                <a:latin typeface="Open Sans" panose="020B0606030504020204" pitchFamily="34" charset="0"/>
                <a:hlinkClick r:id="rId8"/>
              </a:rPr>
              <a:t>doi.org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8"/>
              </a:rPr>
              <a:t>/10.1016/j.matdes.2016.01.099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050" kern="100" dirty="0" err="1">
                <a:effectLst/>
                <a:latin typeface="Open Sans" panose="020B0606030504020204" pitchFamily="34" charset="0"/>
              </a:rPr>
              <a:t>Holzmond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, O., Li, X.: In situ real time defect detection of 3D printed parts.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Additive Manufacturing 17, 135–142 (2017). 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9"/>
              </a:rPr>
              <a:t>https://</a:t>
            </a:r>
            <a:r>
              <a:rPr lang="en-GB" sz="1050" kern="100" dirty="0" err="1">
                <a:effectLst/>
                <a:latin typeface="Open Sans" panose="020B0606030504020204" pitchFamily="34" charset="0"/>
                <a:hlinkClick r:id="rId9"/>
              </a:rPr>
              <a:t>doi.org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9"/>
              </a:rPr>
              <a:t>/10.1016/j.addma.2017.08.003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050" kern="100" dirty="0" err="1">
                <a:effectLst/>
                <a:latin typeface="Open Sans" panose="020B0606030504020204" pitchFamily="34" charset="0"/>
              </a:rPr>
              <a:t>Baumgartl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, H., Tomas, J., Buettner, R., Merkel, M.: A deep learning-based model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for defect detection in laser-powder bed fusion using in-situ thermographic monitoring. Progress in Additive Manufacturing 5(3), 277–285 (2020). 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10"/>
              </a:rPr>
              <a:t>https://</a:t>
            </a:r>
            <a:r>
              <a:rPr lang="en-GB" sz="1050" kern="100" dirty="0" err="1">
                <a:effectLst/>
                <a:latin typeface="Open Sans" panose="020B0606030504020204" pitchFamily="34" charset="0"/>
                <a:hlinkClick r:id="rId10"/>
              </a:rPr>
              <a:t>doi.org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10"/>
              </a:rPr>
              <a:t>/10.1007/s40964-019-00108-3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050" kern="100" dirty="0">
                <a:effectLst/>
                <a:latin typeface="Open Sans" panose="020B0606030504020204" pitchFamily="34" charset="0"/>
              </a:rPr>
              <a:t>Yang, W., Qiu, Y., Liu, W., Qiu, X., Bai, Q.: Defect prediction in laser powder bed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fusion with the combination of simulated melt pool images and thermal images. Journal of Manufacturing Processes 106, 214–222 (2023). 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11"/>
              </a:rPr>
              <a:t>https://</a:t>
            </a:r>
            <a:r>
              <a:rPr lang="en-GB" sz="1050" kern="100" dirty="0" err="1">
                <a:effectLst/>
                <a:latin typeface="Open Sans" panose="020B0606030504020204" pitchFamily="34" charset="0"/>
                <a:hlinkClick r:id="rId11"/>
              </a:rPr>
              <a:t>doi.org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11"/>
              </a:rPr>
              <a:t>/10.1016/j.jmapro.2023.10.006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050" kern="100" dirty="0" err="1">
                <a:effectLst/>
                <a:latin typeface="Open Sans" panose="020B0606030504020204" pitchFamily="34" charset="0"/>
              </a:rPr>
              <a:t>Smoqi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, Z., Gaikwad, A., Bevans, B., </a:t>
            </a:r>
            <a:r>
              <a:rPr lang="en-GB" sz="1050" kern="100" dirty="0" err="1">
                <a:effectLst/>
                <a:latin typeface="Open Sans" panose="020B0606030504020204" pitchFamily="34" charset="0"/>
              </a:rPr>
              <a:t>Kobir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, M.H., Craig, J., Abul-Haj, A., Peralta, A., Rao, P.: Monitoring and prediction of porosity in laser powder bed fusion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using physics-informed </a:t>
            </a:r>
            <a:r>
              <a:rPr lang="en-GB" sz="1050" kern="100" dirty="0" err="1">
                <a:effectLst/>
                <a:latin typeface="Open Sans" panose="020B0606030504020204" pitchFamily="34" charset="0"/>
              </a:rPr>
              <a:t>meltpool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 signatures and machine learning. Journal of Materials Processing Technology 304, 117550 (2022). 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12"/>
              </a:rPr>
              <a:t>https://</a:t>
            </a:r>
            <a:r>
              <a:rPr lang="en-GB" sz="1050" kern="100" dirty="0" err="1">
                <a:effectLst/>
                <a:latin typeface="Open Sans" panose="020B0606030504020204" pitchFamily="34" charset="0"/>
                <a:hlinkClick r:id="rId12"/>
              </a:rPr>
              <a:t>doi.org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12"/>
              </a:rPr>
              <a:t>/10.1016/j.jmatprotec.2022.117550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050" kern="100" dirty="0" err="1">
                <a:effectLst/>
                <a:latin typeface="Open Sans" panose="020B0606030504020204" pitchFamily="34" charset="0"/>
              </a:rPr>
              <a:t>Razvi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, S.S., Feng, S., Narayanan, A., Lee, Y.-T.T., Witherell, P.: A Review of Machine Learning Applications in Additive Manufacturing. Proceedings of the ASME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2019 International Design Engineering Technical Conferences and Computers and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Information in Engineering Conference, DETC2019-98415. </a:t>
            </a:r>
            <a:r>
              <a:rPr lang="de-DE" sz="1050" kern="100" dirty="0">
                <a:effectLst/>
                <a:latin typeface="Open Sans" panose="020B0606030504020204" pitchFamily="34" charset="0"/>
              </a:rPr>
              <a:t>ASME, Anaheim, CA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de-DE" sz="1050" kern="100" dirty="0">
                <a:effectLst/>
                <a:latin typeface="Open Sans" panose="020B0606030504020204" pitchFamily="34" charset="0"/>
              </a:rPr>
              <a:t>(2019). </a:t>
            </a:r>
            <a:r>
              <a:rPr lang="de-DE" sz="1050" kern="100" dirty="0">
                <a:effectLst/>
                <a:latin typeface="Open Sans" panose="020B0606030504020204" pitchFamily="34" charset="0"/>
                <a:hlinkClick r:id="rId13"/>
              </a:rPr>
              <a:t>https://</a:t>
            </a:r>
            <a:r>
              <a:rPr lang="de-DE" sz="1050" kern="100" dirty="0" err="1">
                <a:effectLst/>
                <a:latin typeface="Open Sans" panose="020B0606030504020204" pitchFamily="34" charset="0"/>
                <a:hlinkClick r:id="rId13"/>
              </a:rPr>
              <a:t>doi.org</a:t>
            </a:r>
            <a:r>
              <a:rPr lang="de-DE" sz="1050" kern="100" dirty="0">
                <a:effectLst/>
                <a:latin typeface="Open Sans" panose="020B0606030504020204" pitchFamily="34" charset="0"/>
                <a:hlinkClick r:id="rId13"/>
              </a:rPr>
              <a:t>/10.1115/DETC2019-98415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050" kern="100" dirty="0">
                <a:effectLst/>
                <a:latin typeface="Open Sans" panose="020B0606030504020204" pitchFamily="34" charset="0"/>
              </a:rPr>
              <a:t>Redmon, J., </a:t>
            </a:r>
            <a:r>
              <a:rPr lang="en-GB" sz="1050" kern="100" dirty="0" err="1">
                <a:effectLst/>
                <a:latin typeface="Open Sans" panose="020B0606030504020204" pitchFamily="34" charset="0"/>
              </a:rPr>
              <a:t>Divvala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, S., </a:t>
            </a:r>
            <a:r>
              <a:rPr lang="en-GB" sz="1050" kern="100" dirty="0" err="1">
                <a:effectLst/>
                <a:latin typeface="Open Sans" panose="020B0606030504020204" pitchFamily="34" charset="0"/>
              </a:rPr>
              <a:t>Girshick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, R., Farhadi, A.: You Only Look Once: Unified, Real-Time Object Detection. 2016 IEEE Conference on Computer Vision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and Pattern Recognition (CVPR), pp. 779–788. IEEE, Las Vegas, NV (2016).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14"/>
              </a:rPr>
              <a:t>https://</a:t>
            </a:r>
            <a:r>
              <a:rPr lang="en-GB" sz="1050" kern="100" dirty="0" err="1">
                <a:effectLst/>
                <a:latin typeface="Open Sans" panose="020B0606030504020204" pitchFamily="34" charset="0"/>
                <a:hlinkClick r:id="rId14"/>
              </a:rPr>
              <a:t>doi.org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14"/>
              </a:rPr>
              <a:t>/10.1109/CVPR.2016.91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050" kern="100" dirty="0">
                <a:effectLst/>
                <a:latin typeface="Open Sans" panose="020B0606030504020204" pitchFamily="34" charset="0"/>
              </a:rPr>
              <a:t>Gobert, C., </a:t>
            </a:r>
            <a:r>
              <a:rPr lang="en-GB" sz="1050" kern="100" dirty="0" err="1">
                <a:effectLst/>
                <a:latin typeface="Open Sans" panose="020B0606030504020204" pitchFamily="34" charset="0"/>
              </a:rPr>
              <a:t>Reutzel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, E.W., Petrich, J., Nassar, A.R., Phoha, S.: Application of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supervised machine learning for defect detection during metallic powder bed fusion</a:t>
            </a:r>
            <a:r>
              <a:rPr lang="en-DE" sz="1050" kern="100" dirty="0"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additive manufacturing using high resolution imaging. Additive Manufacturing 21,</a:t>
            </a:r>
            <a:r>
              <a:rPr lang="en-DE" sz="1050" kern="100" dirty="0">
                <a:effectLst/>
                <a:latin typeface="Open Sans" panose="020B0606030504020204" pitchFamily="34" charset="0"/>
              </a:rPr>
              <a:t> 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517528 (2018). 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15"/>
              </a:rPr>
              <a:t>https://</a:t>
            </a:r>
            <a:r>
              <a:rPr lang="en-GB" sz="1050" kern="100" dirty="0" err="1">
                <a:effectLst/>
                <a:latin typeface="Open Sans" panose="020B0606030504020204" pitchFamily="34" charset="0"/>
                <a:hlinkClick r:id="rId15"/>
              </a:rPr>
              <a:t>doi.org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15"/>
              </a:rPr>
              <a:t>/10.1016/j.addma.2018.04.005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050" kern="100" dirty="0">
                <a:effectLst/>
                <a:latin typeface="Open Sans" panose="020B0606030504020204" pitchFamily="34" charset="0"/>
              </a:rPr>
              <a:t>Jin, Z., Zhang, Z., Demir, K., Gu, G.X.: Machine Learning for Advanced Additive Manufacturing. Matter 3(5), 1541–1556 (2020). 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16"/>
              </a:rPr>
              <a:t>https://</a:t>
            </a:r>
            <a:r>
              <a:rPr lang="en-GB" sz="1050" kern="100" dirty="0" err="1">
                <a:effectLst/>
                <a:latin typeface="Open Sans" panose="020B0606030504020204" pitchFamily="34" charset="0"/>
                <a:hlinkClick r:id="rId16"/>
              </a:rPr>
              <a:t>doi.org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16"/>
              </a:rPr>
              <a:t>/10.1016/j.matt.2020.08.023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050" kern="100" dirty="0">
                <a:effectLst/>
                <a:latin typeface="Open Sans" panose="020B0606030504020204" pitchFamily="34" charset="0"/>
              </a:rPr>
              <a:t>Aminzadeh, M., </a:t>
            </a:r>
            <a:r>
              <a:rPr lang="en-GB" sz="1050" kern="100" dirty="0" err="1">
                <a:effectLst/>
                <a:latin typeface="Open Sans" panose="020B0606030504020204" pitchFamily="34" charset="0"/>
              </a:rPr>
              <a:t>Kurfess</a:t>
            </a:r>
            <a:r>
              <a:rPr lang="en-GB" sz="1050" kern="100" dirty="0">
                <a:effectLst/>
                <a:latin typeface="Open Sans" panose="020B0606030504020204" pitchFamily="34" charset="0"/>
              </a:rPr>
              <a:t>, T.R.: Online quality inspection using Bayesian classification in powder-bed additive manufacturing from high-resolution visual camera images. Journal of Intelligent Manufacturing 30, 2505–2523 (2019). 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17"/>
              </a:rPr>
              <a:t>https://</a:t>
            </a:r>
            <a:r>
              <a:rPr lang="en-GB" sz="1050" kern="100" dirty="0" err="1">
                <a:effectLst/>
                <a:latin typeface="Open Sans" panose="020B0606030504020204" pitchFamily="34" charset="0"/>
                <a:hlinkClick r:id="rId17"/>
              </a:rPr>
              <a:t>doi.org</a:t>
            </a:r>
            <a:r>
              <a:rPr lang="en-GB" sz="1050" kern="100" dirty="0">
                <a:effectLst/>
                <a:latin typeface="Open Sans" panose="020B0606030504020204" pitchFamily="34" charset="0"/>
                <a:hlinkClick r:id="rId17"/>
              </a:rPr>
              <a:t>/10.1007/s10845-018-1412-0</a:t>
            </a:r>
            <a:endParaRPr lang="en-DE" sz="1050" kern="100" dirty="0">
              <a:effectLst/>
              <a:latin typeface="Open Sans" panose="020B06060305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en-GB" sz="105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239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DB571E-E76E-3346-B1D4-0A38FBDA963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Thank You!</a:t>
            </a:r>
            <a:endParaRPr lang="de-DE" dirty="0"/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E1A11C87-AB17-4C04-07B5-4075455A14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4118" y="4379913"/>
            <a:ext cx="10924116" cy="12239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Questions and </a:t>
            </a:r>
            <a:r>
              <a:rPr lang="de-DE"/>
              <a:t>Discussion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6191651"/>
      </p:ext>
    </p:extLst>
  </p:cSld>
  <p:clrMapOvr>
    <a:masterClrMapping/>
  </p:clrMapOvr>
</p:sld>
</file>

<file path=ppt/theme/theme1.xml><?xml version="1.0" encoding="utf-8"?>
<a:theme xmlns:a="http://schemas.openxmlformats.org/drawingml/2006/main" name="Inhaltsseiten">
  <a:themeElements>
    <a:clrScheme name="Benutzerdefiniert 2">
      <a:dk1>
        <a:srgbClr val="000000"/>
      </a:dk1>
      <a:lt1>
        <a:srgbClr val="FFFFFF"/>
      </a:lt1>
      <a:dk2>
        <a:srgbClr val="C61A27"/>
      </a:dk2>
      <a:lt2>
        <a:srgbClr val="FFFFFF"/>
      </a:lt2>
      <a:accent1>
        <a:srgbClr val="C61A27"/>
      </a:accent1>
      <a:accent2>
        <a:srgbClr val="004861"/>
      </a:accent2>
      <a:accent3>
        <a:srgbClr val="DD7522"/>
      </a:accent3>
      <a:accent4>
        <a:srgbClr val="793379"/>
      </a:accent4>
      <a:accent5>
        <a:srgbClr val="00978A"/>
      </a:accent5>
      <a:accent6>
        <a:srgbClr val="009BD6"/>
      </a:accent6>
      <a:hlink>
        <a:srgbClr val="C61A27"/>
      </a:hlink>
      <a:folHlink>
        <a:srgbClr val="83A0AF"/>
      </a:folHlink>
    </a:clrScheme>
    <a:fontScheme name="UniKo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Koblenz_PowerPoint_16-9_la2a.potx" id="{905B87C7-3BD4-8748-BE4C-FD065813BF50}" vid="{BB77CC1A-D5A3-9645-9820-027963EB7484}"/>
    </a:ext>
  </a:extLst>
</a:theme>
</file>

<file path=ppt/theme/theme2.xml><?xml version="1.0" encoding="utf-8"?>
<a:theme xmlns:a="http://schemas.openxmlformats.org/drawingml/2006/main" name="Titelseiten">
  <a:themeElements>
    <a:clrScheme name="Benutzerdefiniert 2">
      <a:dk1>
        <a:srgbClr val="000000"/>
      </a:dk1>
      <a:lt1>
        <a:srgbClr val="FFFFFF"/>
      </a:lt1>
      <a:dk2>
        <a:srgbClr val="C61A27"/>
      </a:dk2>
      <a:lt2>
        <a:srgbClr val="FFFFFF"/>
      </a:lt2>
      <a:accent1>
        <a:srgbClr val="C61A27"/>
      </a:accent1>
      <a:accent2>
        <a:srgbClr val="004861"/>
      </a:accent2>
      <a:accent3>
        <a:srgbClr val="DD7522"/>
      </a:accent3>
      <a:accent4>
        <a:srgbClr val="793379"/>
      </a:accent4>
      <a:accent5>
        <a:srgbClr val="00978A"/>
      </a:accent5>
      <a:accent6>
        <a:srgbClr val="009BD6"/>
      </a:accent6>
      <a:hlink>
        <a:srgbClr val="C61A27"/>
      </a:hlink>
      <a:folHlink>
        <a:srgbClr val="83A0AF"/>
      </a:folHlink>
    </a:clrScheme>
    <a:fontScheme name="UniKo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Koblenz_PowerPoint_16-9_la2a.potx" id="{905B87C7-3BD4-8748-BE4C-FD065813BF50}" vid="{52531FA7-68D1-7A46-AD72-A629FEAB1715}"/>
    </a:ext>
  </a:extLst>
</a:theme>
</file>

<file path=ppt/theme/theme3.xml><?xml version="1.0" encoding="utf-8"?>
<a:theme xmlns:a="http://schemas.openxmlformats.org/drawingml/2006/main" name="Hervorhebungen">
  <a:themeElements>
    <a:clrScheme name="Master Rot">
      <a:dk1>
        <a:srgbClr val="FFFFFF"/>
      </a:dk1>
      <a:lt1>
        <a:srgbClr val="FFFFFF"/>
      </a:lt1>
      <a:dk2>
        <a:srgbClr val="C61A27"/>
      </a:dk2>
      <a:lt2>
        <a:srgbClr val="C61A27"/>
      </a:lt2>
      <a:accent1>
        <a:srgbClr val="C51925"/>
      </a:accent1>
      <a:accent2>
        <a:srgbClr val="004861"/>
      </a:accent2>
      <a:accent3>
        <a:srgbClr val="DD7522"/>
      </a:accent3>
      <a:accent4>
        <a:srgbClr val="793379"/>
      </a:accent4>
      <a:accent5>
        <a:srgbClr val="00978A"/>
      </a:accent5>
      <a:accent6>
        <a:srgbClr val="009BD6"/>
      </a:accent6>
      <a:hlink>
        <a:srgbClr val="FFFFFF"/>
      </a:hlink>
      <a:folHlink>
        <a:srgbClr val="83A0AF"/>
      </a:folHlink>
    </a:clrScheme>
    <a:fontScheme name="UniKo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Koblenz_PowerPoint_16-9_la2a.potx" id="{905B87C7-3BD4-8748-BE4C-FD065813BF50}" vid="{16BA0F69-856A-6C4B-A30E-B2405E215914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Inhaltsseiten</Template>
  <TotalTime>4738</TotalTime>
  <Words>3479</Words>
  <Application>Microsoft Macintosh PowerPoint</Application>
  <PresentationFormat>Widescreen</PresentationFormat>
  <Paragraphs>288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Open Sans Light</vt:lpstr>
      <vt:lpstr>Calibri</vt:lpstr>
      <vt:lpstr>Wingdings</vt:lpstr>
      <vt:lpstr>Open Sans</vt:lpstr>
      <vt:lpstr>Open Sans SemiBold</vt:lpstr>
      <vt:lpstr>Arial</vt:lpstr>
      <vt:lpstr>Open Sans ExtraBold</vt:lpstr>
      <vt:lpstr>Inhaltsseiten</vt:lpstr>
      <vt:lpstr>Titelseiten</vt:lpstr>
      <vt:lpstr>Hervorhebungen</vt:lpstr>
      <vt:lpstr>AI Methods for Classification of Production Errors on Camera Images of Additive Manufacturing Processes A Systematic Review </vt:lpstr>
      <vt:lpstr>Presentation Outline</vt:lpstr>
      <vt:lpstr>Introduction: Context and Importance</vt:lpstr>
      <vt:lpstr>Problem Statement  </vt:lpstr>
      <vt:lpstr>Research Objectives  </vt:lpstr>
      <vt:lpstr>Major Additive Manufacturing Processes</vt:lpstr>
      <vt:lpstr>Common AM Defects: Visual Signatures</vt:lpstr>
      <vt:lpstr>Camera-Based Monitoring in AM</vt:lpstr>
      <vt:lpstr>Camera-Based Monitoring Modalities</vt:lpstr>
      <vt:lpstr>AI Foundations Relevant to Classification  </vt:lpstr>
      <vt:lpstr>Traditional Image Processing Approaches  </vt:lpstr>
      <vt:lpstr>Classical Machine Learning Methods</vt:lpstr>
      <vt:lpstr>Deep Learning Approaches</vt:lpstr>
      <vt:lpstr>Comparative Analysis of AI Methods</vt:lpstr>
      <vt:lpstr>Performance Evolution: Traditional → Deep Learning  </vt:lpstr>
      <vt:lpstr>Case Studies and Performance Results</vt:lpstr>
      <vt:lpstr>Case Study: YOLOv8 for Real-Time Detection  </vt:lpstr>
      <vt:lpstr>Strengths and Weaknesses Analysis  </vt:lpstr>
      <vt:lpstr>Challenges and Future Research Directions  </vt:lpstr>
      <vt:lpstr>Future Research Priorities: Timeline  </vt:lpstr>
      <vt:lpstr>Conclusion  </vt:lpstr>
      <vt:lpstr>References  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Ramya Subramanian Porselva Bharathi</dc:creator>
  <cp:keywords/>
  <dc:description/>
  <cp:lastModifiedBy>Ramya Subramanian Porselva Bharathi</cp:lastModifiedBy>
  <cp:revision>50</cp:revision>
  <dcterms:created xsi:type="dcterms:W3CDTF">2026-02-05T12:20:03Z</dcterms:created>
  <dcterms:modified xsi:type="dcterms:W3CDTF">2026-02-08T19:50:46Z</dcterms:modified>
  <cp:category/>
</cp:coreProperties>
</file>